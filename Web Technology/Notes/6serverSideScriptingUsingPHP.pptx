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0" r:id="rId1"/>
  </p:sldMasterIdLst>
  <p:sldIdLst>
    <p:sldId id="256" r:id="rId2"/>
    <p:sldId id="307" r:id="rId3"/>
    <p:sldId id="257" r:id="rId4"/>
    <p:sldId id="312" r:id="rId5"/>
    <p:sldId id="313" r:id="rId6"/>
    <p:sldId id="317" r:id="rId7"/>
    <p:sldId id="331" r:id="rId8"/>
    <p:sldId id="326" r:id="rId9"/>
    <p:sldId id="327" r:id="rId10"/>
    <p:sldId id="298" r:id="rId11"/>
    <p:sldId id="259" r:id="rId12"/>
    <p:sldId id="260" r:id="rId13"/>
    <p:sldId id="261" r:id="rId14"/>
    <p:sldId id="262" r:id="rId15"/>
    <p:sldId id="263" r:id="rId16"/>
    <p:sldId id="264" r:id="rId17"/>
    <p:sldId id="299" r:id="rId18"/>
    <p:sldId id="300" r:id="rId19"/>
    <p:sldId id="281" r:id="rId20"/>
    <p:sldId id="282" r:id="rId21"/>
    <p:sldId id="283" r:id="rId22"/>
    <p:sldId id="332" r:id="rId23"/>
    <p:sldId id="333" r:id="rId24"/>
    <p:sldId id="334" r:id="rId25"/>
    <p:sldId id="335" r:id="rId26"/>
    <p:sldId id="286" r:id="rId27"/>
    <p:sldId id="287" r:id="rId28"/>
    <p:sldId id="288" r:id="rId29"/>
    <p:sldId id="289" r:id="rId30"/>
    <p:sldId id="290" r:id="rId31"/>
    <p:sldId id="291" r:id="rId32"/>
    <p:sldId id="292" r:id="rId33"/>
    <p:sldId id="293" r:id="rId34"/>
    <p:sldId id="294" r:id="rId35"/>
    <p:sldId id="295" r:id="rId36"/>
    <p:sldId id="296" r:id="rId37"/>
    <p:sldId id="297" r:id="rId38"/>
    <p:sldId id="301" r:id="rId39"/>
    <p:sldId id="284" r:id="rId40"/>
    <p:sldId id="285" r:id="rId41"/>
    <p:sldId id="302" r:id="rId42"/>
    <p:sldId id="303" r:id="rId43"/>
    <p:sldId id="304" r:id="rId44"/>
    <p:sldId id="305" r:id="rId45"/>
    <p:sldId id="306" r:id="rId46"/>
    <p:sldId id="336" r:id="rId47"/>
    <p:sldId id="337" r:id="rId48"/>
    <p:sldId id="338" r:id="rId49"/>
    <p:sldId id="339" r:id="rId50"/>
    <p:sldId id="340" r:id="rId51"/>
    <p:sldId id="341" r:id="rId52"/>
    <p:sldId id="342" r:id="rId53"/>
    <p:sldId id="352" r:id="rId54"/>
    <p:sldId id="343" r:id="rId55"/>
    <p:sldId id="344" r:id="rId56"/>
    <p:sldId id="345" r:id="rId57"/>
    <p:sldId id="346" r:id="rId58"/>
    <p:sldId id="353" r:id="rId59"/>
    <p:sldId id="347" r:id="rId60"/>
    <p:sldId id="350" r:id="rId61"/>
    <p:sldId id="348" r:id="rId62"/>
    <p:sldId id="349" r:id="rId63"/>
    <p:sldId id="351" r:id="rId6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347" autoAdjust="0"/>
    <p:restoredTop sz="94660"/>
  </p:normalViewPr>
  <p:slideViewPr>
    <p:cSldViewPr>
      <p:cViewPr varScale="1">
        <p:scale>
          <a:sx n="151" d="100"/>
          <a:sy n="151" d="100"/>
        </p:scale>
        <p:origin x="1992" y="19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dirty="0"/>
              <a:t>Click to edit Master title style</a:t>
            </a:r>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A5BF02E-3B57-4BB0-9DA7-41BFDA56EF6C}" type="datetimeFigureOut">
              <a:rPr lang="en-US" smtClean="0"/>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B20906-AAA4-4638-8E46-64ADE90C7645}" type="slidenum">
              <a:rPr lang="en-US" smtClean="0"/>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08879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FA5BF02E-3B57-4BB0-9DA7-41BFDA56EF6C}" type="datetimeFigureOut">
              <a:rPr lang="en-US" smtClean="0"/>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B20906-AAA4-4638-8E46-64ADE90C7645}" type="slidenum">
              <a:rPr lang="en-US" smtClean="0"/>
              <a:t>‹#›</a:t>
            </a:fld>
            <a:endParaRPr lang="en-US" dirty="0"/>
          </a:p>
        </p:txBody>
      </p:sp>
      <p:pic>
        <p:nvPicPr>
          <p:cNvPr id="8" name="Picture 7">
            <a:extLst>
              <a:ext uri="{FF2B5EF4-FFF2-40B4-BE49-F238E27FC236}">
                <a16:creationId xmlns:a16="http://schemas.microsoft.com/office/drawing/2014/main" id="{98EDA965-3EDA-4995-A38A-F47BD8A00E1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33088" y="136516"/>
            <a:ext cx="1352550" cy="847725"/>
          </a:xfrm>
          <a:prstGeom prst="rect">
            <a:avLst/>
          </a:prstGeom>
        </p:spPr>
      </p:pic>
    </p:spTree>
    <p:extLst>
      <p:ext uri="{BB962C8B-B14F-4D97-AF65-F5344CB8AC3E}">
        <p14:creationId xmlns:p14="http://schemas.microsoft.com/office/powerpoint/2010/main" val="111535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5BF02E-3B57-4BB0-9DA7-41BFDA56EF6C}" type="datetimeFigureOut">
              <a:rPr lang="en-US" smtClean="0"/>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B20906-AAA4-4638-8E46-64ADE90C7645}" type="slidenum">
              <a:rPr lang="en-US" smtClean="0"/>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76172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5"/>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A5BF02E-3B57-4BB0-9DA7-41BFDA56EF6C}" type="datetimeFigureOut">
              <a:rPr lang="en-US" smtClean="0"/>
              <a:t>2/26/2026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B20906-AAA4-4638-8E46-64ADE90C7645}" type="slidenum">
              <a:rPr lang="en-US" smtClean="0"/>
              <a:t>‹#›</a:t>
            </a:fld>
            <a:endParaRPr lang="en-US" dirty="0"/>
          </a:p>
        </p:txBody>
      </p:sp>
    </p:spTree>
    <p:extLst>
      <p:ext uri="{BB962C8B-B14F-4D97-AF65-F5344CB8AC3E}">
        <p14:creationId xmlns:p14="http://schemas.microsoft.com/office/powerpoint/2010/main" val="2454934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A5BF02E-3B57-4BB0-9DA7-41BFDA56EF6C}" type="datetimeFigureOut">
              <a:rPr lang="en-US" smtClean="0"/>
              <a:t>2/26/2026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B20906-AAA4-4638-8E46-64ADE90C7645}" type="slidenum">
              <a:rPr lang="en-US" smtClean="0"/>
              <a:t>‹#›</a:t>
            </a:fld>
            <a:endParaRPr lang="en-US" dirty="0"/>
          </a:p>
        </p:txBody>
      </p:sp>
    </p:spTree>
    <p:extLst>
      <p:ext uri="{BB962C8B-B14F-4D97-AF65-F5344CB8AC3E}">
        <p14:creationId xmlns:p14="http://schemas.microsoft.com/office/powerpoint/2010/main" val="3970817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A5BF02E-3B57-4BB0-9DA7-41BFDA56EF6C}" type="datetimeFigureOut">
              <a:rPr lang="en-US" smtClean="0"/>
              <a:t>2/26/2026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B20906-AAA4-4638-8E46-64ADE90C7645}" type="slidenum">
              <a:rPr lang="en-US" smtClean="0"/>
              <a:t>‹#›</a:t>
            </a:fld>
            <a:endParaRPr lang="en-US" dirty="0"/>
          </a:p>
        </p:txBody>
      </p:sp>
    </p:spTree>
    <p:extLst>
      <p:ext uri="{BB962C8B-B14F-4D97-AF65-F5344CB8AC3E}">
        <p14:creationId xmlns:p14="http://schemas.microsoft.com/office/powerpoint/2010/main" val="20747269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FA5BF02E-3B57-4BB0-9DA7-41BFDA56EF6C}" type="datetimeFigureOut">
              <a:rPr lang="en-US" smtClean="0"/>
              <a:t>2/26/2026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71B20906-AAA4-4638-8E46-64ADE90C7645}" type="slidenum">
              <a:rPr lang="en-US" smtClean="0"/>
              <a:t>‹#›</a:t>
            </a:fld>
            <a:endParaRPr lang="en-US" dirty="0"/>
          </a:p>
        </p:txBody>
      </p:sp>
    </p:spTree>
    <p:extLst>
      <p:ext uri="{BB962C8B-B14F-4D97-AF65-F5344CB8AC3E}">
        <p14:creationId xmlns:p14="http://schemas.microsoft.com/office/powerpoint/2010/main" val="10639808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731520"/>
            <a:ext cx="486918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FA5BF02E-3B57-4BB0-9DA7-41BFDA56EF6C}" type="datetimeFigureOut">
              <a:rPr lang="en-US" smtClean="0"/>
              <a:t>2/26/2026</a:t>
            </a:fld>
            <a:endParaRPr lang="en-US" dirty="0"/>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1B20906-AAA4-4638-8E46-64ADE90C7645}" type="slidenum">
              <a:rPr lang="en-US" smtClean="0"/>
              <a:t>‹#›</a:t>
            </a:fld>
            <a:endParaRPr lang="en-US" dirty="0"/>
          </a:p>
        </p:txBody>
      </p:sp>
    </p:spTree>
    <p:extLst>
      <p:ext uri="{BB962C8B-B14F-4D97-AF65-F5344CB8AC3E}">
        <p14:creationId xmlns:p14="http://schemas.microsoft.com/office/powerpoint/2010/main" val="2617161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5234"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A5BF02E-3B57-4BB0-9DA7-41BFDA56EF6C}" type="datetimeFigureOut">
              <a:rPr lang="en-US" smtClean="0"/>
              <a:t>2/26/2026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B20906-AAA4-4638-8E46-64ADE90C7645}" type="slidenum">
              <a:rPr lang="en-US" smtClean="0"/>
              <a:t>‹#›</a:t>
            </a:fld>
            <a:endParaRPr lang="en-US" dirty="0"/>
          </a:p>
        </p:txBody>
      </p:sp>
    </p:spTree>
    <p:extLst>
      <p:ext uri="{BB962C8B-B14F-4D97-AF65-F5344CB8AC3E}">
        <p14:creationId xmlns:p14="http://schemas.microsoft.com/office/powerpoint/2010/main" val="41359976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5BF02E-3B57-4BB0-9DA7-41BFDA56EF6C}" type="datetimeFigureOut">
              <a:rPr lang="en-US" smtClean="0"/>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B20906-AAA4-4638-8E46-64ADE90C7645}" type="slidenum">
              <a:rPr lang="en-US" smtClean="0"/>
              <a:t>‹#›</a:t>
            </a:fld>
            <a:endParaRPr lang="en-US" dirty="0"/>
          </a:p>
        </p:txBody>
      </p:sp>
    </p:spTree>
    <p:extLst>
      <p:ext uri="{BB962C8B-B14F-4D97-AF65-F5344CB8AC3E}">
        <p14:creationId xmlns:p14="http://schemas.microsoft.com/office/powerpoint/2010/main" val="2355463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5BF02E-3B57-4BB0-9DA7-41BFDA56EF6C}" type="datetimeFigureOut">
              <a:rPr lang="en-US" smtClean="0"/>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B20906-AAA4-4638-8E46-64ADE90C7645}" type="slidenum">
              <a:rPr lang="en-US" smtClean="0"/>
              <a:t>‹#›</a:t>
            </a:fld>
            <a:endParaRPr lang="en-US" dirty="0"/>
          </a:p>
        </p:txBody>
      </p:sp>
    </p:spTree>
    <p:extLst>
      <p:ext uri="{BB962C8B-B14F-4D97-AF65-F5344CB8AC3E}">
        <p14:creationId xmlns:p14="http://schemas.microsoft.com/office/powerpoint/2010/main" val="1764221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FA5BF02E-3B57-4BB0-9DA7-41BFDA56EF6C}" type="datetimeFigureOut">
              <a:rPr lang="en-US" smtClean="0"/>
              <a:t>2/26/2026</a:t>
            </a:fld>
            <a:endParaRPr lang="en-US" dirty="0"/>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71B20906-AAA4-4638-8E46-64ADE90C7645}" type="slidenum">
              <a:rPr lang="en-US" smtClean="0"/>
              <a:t>‹#›</a:t>
            </a:fld>
            <a:endParaRPr lang="en-US" dirty="0"/>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5588719"/>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wallpaperflare.com/closeup-photo-of-eyeglasses-screen-computer-electronics-monitor-wallpaper-ezhbo" TargetMode="External"/><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mailto:$drinkmaster@example.com"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mailto:james@example.com"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mailto:jacob@example.com"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9186DCC-A8A1-47A1-80FA-66FB5E0E3517}"/>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0159" r="11259" b="2198"/>
          <a:stretch/>
        </p:blipFill>
        <p:spPr>
          <a:xfrm>
            <a:off x="-1" y="-19878"/>
            <a:ext cx="9144001" cy="6781800"/>
          </a:xfrm>
          <a:prstGeom prst="rect">
            <a:avLst/>
          </a:prstGeom>
        </p:spPr>
      </p:pic>
      <p:sp>
        <p:nvSpPr>
          <p:cNvPr id="2" name="Title 1"/>
          <p:cNvSpPr>
            <a:spLocks noGrp="1"/>
          </p:cNvSpPr>
          <p:nvPr>
            <p:ph type="ctrTitle"/>
          </p:nvPr>
        </p:nvSpPr>
        <p:spPr>
          <a:xfrm>
            <a:off x="3230879" y="130070"/>
            <a:ext cx="2682240" cy="1277112"/>
          </a:xfrm>
        </p:spPr>
        <p:txBody>
          <a:bodyPr/>
          <a:lstStyle/>
          <a:p>
            <a:r>
              <a:rPr lang="en-US" dirty="0">
                <a:solidFill>
                  <a:schemeClr val="bg1"/>
                </a:solidFill>
                <a:highlight>
                  <a:srgbClr val="808080"/>
                </a:highlight>
              </a:rPr>
              <a:t>Unit 5</a:t>
            </a:r>
          </a:p>
        </p:txBody>
      </p:sp>
      <p:sp>
        <p:nvSpPr>
          <p:cNvPr id="3" name="Subtitle 2"/>
          <p:cNvSpPr>
            <a:spLocks noGrp="1"/>
          </p:cNvSpPr>
          <p:nvPr>
            <p:ph type="subTitle" idx="1"/>
          </p:nvPr>
        </p:nvSpPr>
        <p:spPr>
          <a:xfrm>
            <a:off x="2133600" y="1524000"/>
            <a:ext cx="5265420" cy="457200"/>
          </a:xfrm>
        </p:spPr>
        <p:txBody>
          <a:bodyPr>
            <a:normAutofit lnSpcReduction="10000"/>
          </a:bodyPr>
          <a:lstStyle/>
          <a:p>
            <a:pPr algn="ctr"/>
            <a:r>
              <a:rPr lang="en-US" sz="2800" b="1" dirty="0">
                <a:solidFill>
                  <a:schemeClr val="tx2">
                    <a:lumMod val="60000"/>
                    <a:lumOff val="40000"/>
                  </a:schemeClr>
                </a:solidFill>
                <a:highlight>
                  <a:srgbClr val="808000"/>
                </a:highlight>
              </a:rPr>
              <a:t>Server Side Scripting(PHP)</a:t>
            </a:r>
          </a:p>
        </p:txBody>
      </p:sp>
    </p:spTree>
    <p:extLst>
      <p:ext uri="{BB962C8B-B14F-4D97-AF65-F5344CB8AC3E}">
        <p14:creationId xmlns:p14="http://schemas.microsoft.com/office/powerpoint/2010/main" val="11037955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a:t>What is PHP?</a:t>
            </a:r>
          </a:p>
          <a:p>
            <a:pPr marL="0" indent="0">
              <a:buNone/>
            </a:pPr>
            <a:r>
              <a:rPr lang="en-US" dirty="0"/>
              <a:t>PHP (</a:t>
            </a:r>
            <a:r>
              <a:rPr lang="en-US" i="1" dirty="0"/>
              <a:t>Hypertext Preprocessor</a:t>
            </a:r>
            <a:r>
              <a:rPr lang="en-US" dirty="0"/>
              <a:t>) is a widely-used open source general-purpose server side scripting language that is especially suited for web development and can be embedded into HTML.</a:t>
            </a:r>
          </a:p>
          <a:p>
            <a:endParaRPr lang="en-US" dirty="0"/>
          </a:p>
        </p:txBody>
      </p:sp>
      <p:sp>
        <p:nvSpPr>
          <p:cNvPr id="2" name="Title 1"/>
          <p:cNvSpPr>
            <a:spLocks noGrp="1"/>
          </p:cNvSpPr>
          <p:nvPr>
            <p:ph type="title"/>
          </p:nvPr>
        </p:nvSpPr>
        <p:spPr/>
        <p:txBody>
          <a:bodyPr>
            <a:normAutofit/>
          </a:bodyPr>
          <a:lstStyle/>
          <a:p>
            <a:r>
              <a:rPr lang="en-US" b="1" dirty="0"/>
              <a:t>Introduction</a:t>
            </a:r>
            <a:endParaRPr lang="en-US" dirty="0"/>
          </a:p>
        </p:txBody>
      </p:sp>
    </p:spTree>
    <p:extLst>
      <p:ext uri="{BB962C8B-B14F-4D97-AF65-F5344CB8AC3E}">
        <p14:creationId xmlns:p14="http://schemas.microsoft.com/office/powerpoint/2010/main" val="32844773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dirty="0"/>
              <a:t>PHP is a programming language that's used mostly for building web sites. Instead of a PHP program running on a desktop computer for the use of one person, it typically runs on a web server and is accessed by lots of people using web browsers on their own computers. This section explains how PHP fits into the interaction between a web browser and a web server.</a:t>
            </a:r>
          </a:p>
          <a:p>
            <a:pPr algn="just"/>
            <a:r>
              <a:rPr lang="en-US" dirty="0"/>
              <a:t>When you sit down at your computer and pull up a web page using a browser such as Internet Explorer or Mozilla, you cause a little conversation to happen over the Internet between your computer and another computer.</a:t>
            </a:r>
          </a:p>
        </p:txBody>
      </p:sp>
      <p:sp>
        <p:nvSpPr>
          <p:cNvPr id="2" name="Title 1"/>
          <p:cNvSpPr>
            <a:spLocks noGrp="1"/>
          </p:cNvSpPr>
          <p:nvPr>
            <p:ph type="title"/>
          </p:nvPr>
        </p:nvSpPr>
        <p:spPr/>
        <p:txBody>
          <a:bodyPr/>
          <a:lstStyle/>
          <a:p>
            <a:r>
              <a:rPr lang="en-US" b="1" dirty="0"/>
              <a:t>PHP's Place in the Web World</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b="1" dirty="0"/>
              <a:t>PHP Is Free (as in Money)</a:t>
            </a:r>
          </a:p>
          <a:p>
            <a:pPr marL="109728" indent="0">
              <a:buNone/>
            </a:pPr>
            <a:r>
              <a:rPr lang="en-US" dirty="0"/>
              <a:t>You don't have to pay anyone to use PHP. There are no licensing fees, support fees, maintenance fees, upgrade fees, or any other kind of charge. </a:t>
            </a:r>
          </a:p>
          <a:p>
            <a:r>
              <a:rPr lang="en-US" b="1" dirty="0"/>
              <a:t> PHP Is Free (as in Speech)</a:t>
            </a:r>
          </a:p>
          <a:p>
            <a:pPr marL="109728" indent="0">
              <a:buNone/>
            </a:pPr>
            <a:r>
              <a:rPr lang="en-US" dirty="0"/>
              <a:t>As an open source project, PHP makes its innards available for anyone to inspect. </a:t>
            </a:r>
          </a:p>
          <a:p>
            <a:r>
              <a:rPr lang="en-US" b="1" dirty="0"/>
              <a:t>PHP Is Cross-Platform</a:t>
            </a:r>
          </a:p>
          <a:p>
            <a:pPr marL="109728" indent="0">
              <a:buNone/>
            </a:pPr>
            <a:r>
              <a:rPr lang="en-US" dirty="0"/>
              <a:t>You can use PHP with a web server computer that runs Windows, Mac OS X, Linux, Solaris, and many other versions of Unix. </a:t>
            </a:r>
          </a:p>
          <a:p>
            <a:endParaRPr lang="en-US" dirty="0"/>
          </a:p>
        </p:txBody>
      </p:sp>
      <p:sp>
        <p:nvSpPr>
          <p:cNvPr id="2" name="Title 1"/>
          <p:cNvSpPr>
            <a:spLocks noGrp="1"/>
          </p:cNvSpPr>
          <p:nvPr>
            <p:ph type="title"/>
          </p:nvPr>
        </p:nvSpPr>
        <p:spPr/>
        <p:txBody>
          <a:bodyPr>
            <a:normAutofit/>
          </a:bodyPr>
          <a:lstStyle/>
          <a:p>
            <a:r>
              <a:rPr lang="en-US" dirty="0">
                <a:effectLst/>
              </a:rPr>
              <a:t>What's So Great About PHP?</a:t>
            </a:r>
            <a:endParaRPr lang="en-US" dirty="0"/>
          </a:p>
        </p:txBody>
      </p:sp>
    </p:spTree>
    <p:extLst>
      <p:ext uri="{BB962C8B-B14F-4D97-AF65-F5344CB8AC3E}">
        <p14:creationId xmlns:p14="http://schemas.microsoft.com/office/powerpoint/2010/main" val="23903821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t>PHP Is Widely Used</a:t>
            </a:r>
          </a:p>
          <a:p>
            <a:pPr marL="109728" indent="0">
              <a:buNone/>
            </a:pPr>
            <a:r>
              <a:rPr lang="en-US" dirty="0"/>
              <a:t>As of March 2004, PHP is installed on more than 15 million different web sites.</a:t>
            </a:r>
          </a:p>
          <a:p>
            <a:r>
              <a:rPr lang="en-US" b="1" dirty="0"/>
              <a:t>PHP Hides Its Complexity</a:t>
            </a:r>
          </a:p>
          <a:p>
            <a:pPr marL="109728" indent="0">
              <a:buNone/>
            </a:pPr>
            <a:r>
              <a:rPr lang="en-US" dirty="0"/>
              <a:t>You can build powerful e-commerce engines in PHP that handle millions of customers. </a:t>
            </a:r>
          </a:p>
          <a:p>
            <a:r>
              <a:rPr lang="en-US" b="1" dirty="0"/>
              <a:t>PHP Is Built for Web Programming</a:t>
            </a:r>
          </a:p>
          <a:p>
            <a:pPr marL="109728" indent="0">
              <a:buNone/>
            </a:pPr>
            <a:r>
              <a:rPr lang="en-US" dirty="0"/>
              <a:t>Unlike most other programming languages, PHP was created from the ground up for generating web pages.</a:t>
            </a:r>
          </a:p>
          <a:p>
            <a:endParaRPr lang="en-US" dirty="0"/>
          </a:p>
        </p:txBody>
      </p:sp>
      <p:sp>
        <p:nvSpPr>
          <p:cNvPr id="3" name="Title 2"/>
          <p:cNvSpPr>
            <a:spLocks noGrp="1"/>
          </p:cNvSpPr>
          <p:nvPr>
            <p:ph type="title"/>
          </p:nvPr>
        </p:nvSpPr>
        <p:spPr/>
        <p:txBody>
          <a:bodyPr/>
          <a:lstStyle/>
          <a:p>
            <a:r>
              <a:rPr lang="en-US" dirty="0"/>
              <a:t>Continue..</a:t>
            </a:r>
          </a:p>
        </p:txBody>
      </p:sp>
    </p:spTree>
    <p:extLst>
      <p:ext uri="{BB962C8B-B14F-4D97-AF65-F5344CB8AC3E}">
        <p14:creationId xmlns:p14="http://schemas.microsoft.com/office/powerpoint/2010/main" val="36644765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2628" indent="-342900">
              <a:buFont typeface="Wingdings" panose="05000000000000000000" pitchFamily="2" charset="2"/>
              <a:buChar char="q"/>
            </a:pPr>
            <a:r>
              <a:rPr lang="en-US" dirty="0"/>
              <a:t>PHP code starts with &lt;?php and ends with ?&gt;</a:t>
            </a:r>
          </a:p>
          <a:p>
            <a:pPr marL="452628" indent="-342900">
              <a:buFont typeface="Wingdings" panose="05000000000000000000" pitchFamily="2" charset="2"/>
              <a:buChar char="q"/>
            </a:pPr>
            <a:r>
              <a:rPr lang="en-US" dirty="0"/>
              <a:t>Every PHP statements end with a semicolon(;)</a:t>
            </a:r>
          </a:p>
          <a:p>
            <a:pPr marL="452628" indent="-342900">
              <a:buFont typeface="Wingdings" panose="05000000000000000000" pitchFamily="2" charset="2"/>
              <a:buChar char="q"/>
            </a:pPr>
            <a:r>
              <a:rPr lang="en-US" dirty="0"/>
              <a:t>PHP code save with .php extension</a:t>
            </a:r>
          </a:p>
          <a:p>
            <a:pPr marL="452628" indent="-342900">
              <a:buFont typeface="Wingdings" panose="05000000000000000000" pitchFamily="2" charset="2"/>
              <a:buChar char="q"/>
            </a:pPr>
            <a:r>
              <a:rPr lang="en-US" dirty="0"/>
              <a:t>PHP contain some HTML tag and PHP code</a:t>
            </a:r>
          </a:p>
          <a:p>
            <a:pPr marL="452628" indent="-342900">
              <a:buFont typeface="Wingdings" panose="05000000000000000000" pitchFamily="2" charset="2"/>
              <a:buChar char="q"/>
            </a:pPr>
            <a:r>
              <a:rPr lang="en-US" dirty="0"/>
              <a:t>You can place PHP code anywhere in your document</a:t>
            </a:r>
          </a:p>
        </p:txBody>
      </p:sp>
      <p:sp>
        <p:nvSpPr>
          <p:cNvPr id="3" name="Title 2"/>
          <p:cNvSpPr>
            <a:spLocks noGrp="1"/>
          </p:cNvSpPr>
          <p:nvPr>
            <p:ph type="title"/>
          </p:nvPr>
        </p:nvSpPr>
        <p:spPr/>
        <p:txBody>
          <a:bodyPr>
            <a:normAutofit/>
          </a:bodyPr>
          <a:lstStyle/>
          <a:p>
            <a:r>
              <a:rPr lang="en-US" b="1" dirty="0">
                <a:effectLst/>
              </a:rPr>
              <a:t>PHP Syntax</a:t>
            </a:r>
            <a:endParaRPr lang="en-US" b="1" dirty="0"/>
          </a:p>
        </p:txBody>
      </p:sp>
    </p:spTree>
    <p:extLst>
      <p:ext uri="{BB962C8B-B14F-4D97-AF65-F5344CB8AC3E}">
        <p14:creationId xmlns:p14="http://schemas.microsoft.com/office/powerpoint/2010/main" val="3674226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109728" indent="0">
              <a:buNone/>
            </a:pPr>
            <a:r>
              <a:rPr lang="en-US" b="1" dirty="0"/>
              <a:t>Start and End Tags</a:t>
            </a:r>
            <a:endParaRPr lang="en-US" dirty="0"/>
          </a:p>
          <a:p>
            <a:pPr marL="109728" indent="0">
              <a:buNone/>
            </a:pPr>
            <a:r>
              <a:rPr lang="en-US" dirty="0"/>
              <a:t>The above example uses &lt;?php as the PHP start tag and ?&gt; as the PHP end tag. The PHP interpreter ignores anything outside of those tags. Text before the start tag or after the end tag is printed with no interference from the PHP interpreter.</a:t>
            </a:r>
          </a:p>
          <a:p>
            <a:pPr marL="109728" indent="0">
              <a:buNone/>
            </a:pPr>
            <a:r>
              <a:rPr lang="en-US" dirty="0"/>
              <a:t>&lt;?php</a:t>
            </a:r>
          </a:p>
          <a:p>
            <a:pPr marL="109728" indent="0">
              <a:buNone/>
            </a:pPr>
            <a:r>
              <a:rPr lang="en-US" dirty="0"/>
              <a:t>//statements or blocks</a:t>
            </a:r>
          </a:p>
          <a:p>
            <a:pPr marL="109728" indent="0">
              <a:buNone/>
            </a:pPr>
            <a:r>
              <a:rPr lang="en-US" dirty="0"/>
              <a:t>?&gt;</a:t>
            </a:r>
          </a:p>
          <a:p>
            <a:r>
              <a:rPr lang="en-US" dirty="0"/>
              <a:t>PHP can support multiple start and end tags. Each start tag must be closed by its own end tags.</a:t>
            </a:r>
          </a:p>
        </p:txBody>
      </p:sp>
      <p:sp>
        <p:nvSpPr>
          <p:cNvPr id="3" name="Title 2"/>
          <p:cNvSpPr>
            <a:spLocks noGrp="1"/>
          </p:cNvSpPr>
          <p:nvPr>
            <p:ph type="title"/>
          </p:nvPr>
        </p:nvSpPr>
        <p:spPr/>
        <p:txBody>
          <a:bodyPr>
            <a:normAutofit/>
          </a:bodyPr>
          <a:lstStyle/>
          <a:p>
            <a:r>
              <a:rPr lang="en-US" b="1" dirty="0">
                <a:effectLst/>
              </a:rPr>
              <a:t>PHP Syntax</a:t>
            </a:r>
            <a:endParaRPr lang="en-US" b="1" dirty="0"/>
          </a:p>
        </p:txBody>
      </p:sp>
    </p:spTree>
    <p:extLst>
      <p:ext uri="{BB962C8B-B14F-4D97-AF65-F5344CB8AC3E}">
        <p14:creationId xmlns:p14="http://schemas.microsoft.com/office/powerpoint/2010/main" val="6889064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109728" indent="0">
              <a:buNone/>
            </a:pPr>
            <a:r>
              <a:rPr lang="en-US" b="1" i="1" dirty="0"/>
              <a:t>Example: Single-line comments with // or #</a:t>
            </a:r>
            <a:endParaRPr lang="en-US" dirty="0"/>
          </a:p>
          <a:p>
            <a:pPr marL="109728" indent="0">
              <a:buNone/>
            </a:pPr>
            <a:r>
              <a:rPr lang="en-US" dirty="0"/>
              <a:t>// This line is a comment</a:t>
            </a:r>
          </a:p>
          <a:p>
            <a:pPr marL="109728" indent="0">
              <a:buNone/>
            </a:pPr>
            <a:r>
              <a:rPr lang="en-US" dirty="0"/>
              <a:t>print "Smoked Fish Soup ";</a:t>
            </a:r>
          </a:p>
          <a:p>
            <a:pPr marL="109728" indent="0">
              <a:buNone/>
            </a:pPr>
            <a:r>
              <a:rPr lang="en-US" dirty="0"/>
              <a:t>print 'costs $3.25.';</a:t>
            </a:r>
          </a:p>
          <a:p>
            <a:pPr marL="109728" indent="0">
              <a:buNone/>
            </a:pPr>
            <a:r>
              <a:rPr lang="en-US" dirty="0"/>
              <a:t># Add another dish to the menu</a:t>
            </a:r>
          </a:p>
          <a:p>
            <a:pPr marL="109728" indent="0">
              <a:buNone/>
            </a:pPr>
            <a:r>
              <a:rPr lang="en-US" dirty="0"/>
              <a:t>print 'Duck with Pea Shoots ';</a:t>
            </a:r>
          </a:p>
          <a:p>
            <a:pPr marL="109728" indent="0">
              <a:buNone/>
            </a:pPr>
            <a:r>
              <a:rPr lang="en-US" dirty="0"/>
              <a:t>print 'costs $9.50.';</a:t>
            </a:r>
          </a:p>
          <a:p>
            <a:pPr marL="109728" indent="0">
              <a:buNone/>
            </a:pPr>
            <a:r>
              <a:rPr lang="en-US" dirty="0"/>
              <a:t>// You can put // or # inside single-line comments</a:t>
            </a:r>
          </a:p>
          <a:p>
            <a:endParaRPr lang="en-US" dirty="0"/>
          </a:p>
        </p:txBody>
      </p:sp>
      <p:sp>
        <p:nvSpPr>
          <p:cNvPr id="3" name="Title 2"/>
          <p:cNvSpPr>
            <a:spLocks noGrp="1"/>
          </p:cNvSpPr>
          <p:nvPr>
            <p:ph type="title"/>
          </p:nvPr>
        </p:nvSpPr>
        <p:spPr/>
        <p:txBody>
          <a:bodyPr>
            <a:normAutofit/>
          </a:bodyPr>
          <a:lstStyle/>
          <a:p>
            <a:r>
              <a:rPr lang="en-US" dirty="0">
                <a:effectLst/>
              </a:rPr>
              <a:t>Comments</a:t>
            </a:r>
            <a:endParaRPr lang="en-US" dirty="0"/>
          </a:p>
        </p:txBody>
      </p:sp>
    </p:spTree>
    <p:extLst>
      <p:ext uri="{BB962C8B-B14F-4D97-AF65-F5344CB8AC3E}">
        <p14:creationId xmlns:p14="http://schemas.microsoft.com/office/powerpoint/2010/main" val="24263560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109728" indent="0">
              <a:buNone/>
            </a:pPr>
            <a:r>
              <a:rPr lang="en-US" dirty="0"/>
              <a:t>/* We're going to add a few things to the menu:</a:t>
            </a:r>
          </a:p>
          <a:p>
            <a:pPr marL="109728" indent="0">
              <a:buNone/>
            </a:pPr>
            <a:r>
              <a:rPr lang="en-US" dirty="0"/>
              <a:t>- Smoked Fish Soup</a:t>
            </a:r>
          </a:p>
          <a:p>
            <a:pPr marL="109728" indent="0">
              <a:buNone/>
            </a:pPr>
            <a:r>
              <a:rPr lang="en-US" dirty="0"/>
              <a:t>- Duck with Pea Shoots</a:t>
            </a:r>
          </a:p>
          <a:p>
            <a:pPr marL="109728" indent="0">
              <a:buNone/>
            </a:pPr>
            <a:r>
              <a:rPr lang="en-US" dirty="0"/>
              <a:t>- Shark Fin Soup</a:t>
            </a:r>
          </a:p>
          <a:p>
            <a:pPr marL="109728" indent="0">
              <a:buNone/>
            </a:pPr>
            <a:r>
              <a:rPr lang="en-US" dirty="0"/>
              <a:t>*/</a:t>
            </a:r>
          </a:p>
          <a:p>
            <a:endParaRPr lang="en-US" dirty="0"/>
          </a:p>
        </p:txBody>
      </p:sp>
      <p:sp>
        <p:nvSpPr>
          <p:cNvPr id="3" name="Title 2"/>
          <p:cNvSpPr>
            <a:spLocks noGrp="1"/>
          </p:cNvSpPr>
          <p:nvPr>
            <p:ph type="title"/>
          </p:nvPr>
        </p:nvSpPr>
        <p:spPr/>
        <p:txBody>
          <a:bodyPr>
            <a:normAutofit/>
          </a:bodyPr>
          <a:lstStyle/>
          <a:p>
            <a:r>
              <a:rPr lang="en-US" i="1" dirty="0">
                <a:effectLst/>
              </a:rPr>
              <a:t>Example: Multiline comments</a:t>
            </a:r>
            <a:endParaRPr lang="en-US" dirty="0"/>
          </a:p>
        </p:txBody>
      </p:sp>
    </p:spTree>
    <p:extLst>
      <p:ext uri="{BB962C8B-B14F-4D97-AF65-F5344CB8AC3E}">
        <p14:creationId xmlns:p14="http://schemas.microsoft.com/office/powerpoint/2010/main" val="25919152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Data Type</a:t>
            </a:r>
            <a:endParaRPr lang="en-US" dirty="0"/>
          </a:p>
        </p:txBody>
      </p:sp>
      <p:sp>
        <p:nvSpPr>
          <p:cNvPr id="2" name="Content Placeholder 1"/>
          <p:cNvSpPr>
            <a:spLocks noGrp="1"/>
          </p:cNvSpPr>
          <p:nvPr>
            <p:ph idx="1"/>
          </p:nvPr>
        </p:nvSpPr>
        <p:spPr/>
        <p:txBody>
          <a:bodyPr>
            <a:normAutofit fontScale="92500" lnSpcReduction="20000"/>
          </a:bodyPr>
          <a:lstStyle/>
          <a:p>
            <a:pPr marL="109728" indent="0">
              <a:buNone/>
            </a:pPr>
            <a:r>
              <a:rPr lang="en-US" b="1" dirty="0"/>
              <a:t>PHP has total of 8 data types which we used to construct our variables.</a:t>
            </a:r>
          </a:p>
          <a:p>
            <a:pPr lvl="0"/>
            <a:r>
              <a:rPr lang="en-US" b="1" dirty="0"/>
              <a:t>Integers</a:t>
            </a:r>
            <a:r>
              <a:rPr lang="en-US" dirty="0"/>
              <a:t> are whole number without a decimal point.</a:t>
            </a:r>
            <a:endParaRPr lang="en-US" b="1" dirty="0"/>
          </a:p>
          <a:p>
            <a:pPr lvl="0"/>
            <a:r>
              <a:rPr lang="en-US" b="1" dirty="0"/>
              <a:t>Doubles</a:t>
            </a:r>
            <a:r>
              <a:rPr lang="en-US" dirty="0"/>
              <a:t> are floating point numbers like 3.1415, 2.50</a:t>
            </a:r>
          </a:p>
          <a:p>
            <a:pPr lvl="0"/>
            <a:r>
              <a:rPr lang="en-US" b="1" dirty="0"/>
              <a:t>Boolean</a:t>
            </a:r>
            <a:r>
              <a:rPr lang="en-US" dirty="0"/>
              <a:t> have only two possible value either true or false.</a:t>
            </a:r>
          </a:p>
          <a:p>
            <a:pPr lvl="0"/>
            <a:r>
              <a:rPr lang="en-US" b="1" dirty="0"/>
              <a:t>NULL</a:t>
            </a:r>
            <a:r>
              <a:rPr lang="en-US" dirty="0"/>
              <a:t> is special type that only has one value: NULL</a:t>
            </a:r>
          </a:p>
          <a:p>
            <a:pPr lvl="0"/>
            <a:r>
              <a:rPr lang="en-US" b="1" dirty="0"/>
              <a:t>Strings</a:t>
            </a:r>
            <a:r>
              <a:rPr lang="en-US" dirty="0"/>
              <a:t> are sequence of characters like php supports string operations</a:t>
            </a:r>
          </a:p>
          <a:p>
            <a:pPr lvl="0"/>
            <a:r>
              <a:rPr lang="en-US" b="1" dirty="0"/>
              <a:t>Arrays</a:t>
            </a:r>
            <a:r>
              <a:rPr lang="en-US" dirty="0"/>
              <a:t> are named and indexed collection of other values.</a:t>
            </a:r>
          </a:p>
          <a:p>
            <a:pPr lvl="0"/>
            <a:r>
              <a:rPr lang="en-US" b="1" dirty="0"/>
              <a:t>Object</a:t>
            </a:r>
            <a:r>
              <a:rPr lang="en-US" dirty="0"/>
              <a:t> are instance of program defined classes which can package up both other kinds of values and functions that are specified to the class.</a:t>
            </a:r>
          </a:p>
          <a:p>
            <a:pPr lvl="0"/>
            <a:r>
              <a:rPr lang="en-US" dirty="0"/>
              <a:t>Resources are special variables that hold references to resources external to php (such as database connection).</a:t>
            </a:r>
          </a:p>
          <a:p>
            <a:endParaRPr lang="en-US" dirty="0"/>
          </a:p>
        </p:txBody>
      </p:sp>
    </p:spTree>
    <p:extLst>
      <p:ext uri="{BB962C8B-B14F-4D97-AF65-F5344CB8AC3E}">
        <p14:creationId xmlns:p14="http://schemas.microsoft.com/office/powerpoint/2010/main" val="1374141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String Example</a:t>
            </a:r>
          </a:p>
        </p:txBody>
      </p:sp>
      <p:sp>
        <p:nvSpPr>
          <p:cNvPr id="3" name="Content Placeholder 2"/>
          <p:cNvSpPr>
            <a:spLocks noGrp="1"/>
          </p:cNvSpPr>
          <p:nvPr>
            <p:ph idx="1"/>
          </p:nvPr>
        </p:nvSpPr>
        <p:spPr/>
        <p:txBody>
          <a:bodyPr>
            <a:normAutofit/>
          </a:bodyPr>
          <a:lstStyle/>
          <a:p>
            <a:pPr marL="0" indent="0">
              <a:buNone/>
            </a:pPr>
            <a:r>
              <a:rPr lang="en-US" dirty="0"/>
              <a:t>&lt;?php</a:t>
            </a:r>
          </a:p>
          <a:p>
            <a:pPr marL="0" indent="0">
              <a:buNone/>
            </a:pPr>
            <a:r>
              <a:rPr lang="en-US" dirty="0"/>
              <a:t>print 'I would like a bowl of soup.';</a:t>
            </a:r>
          </a:p>
          <a:p>
            <a:pPr marL="0" indent="0">
              <a:buNone/>
            </a:pPr>
            <a:r>
              <a:rPr lang="en-US" dirty="0"/>
              <a:t>print 'chicken';</a:t>
            </a:r>
          </a:p>
          <a:p>
            <a:pPr marL="0" indent="0">
              <a:buNone/>
            </a:pPr>
            <a:r>
              <a:rPr lang="en-US" dirty="0"/>
              <a:t>print '06520';</a:t>
            </a:r>
          </a:p>
          <a:p>
            <a:pPr marL="0" indent="0">
              <a:buNone/>
            </a:pPr>
            <a:r>
              <a:rPr lang="en-US" dirty="0"/>
              <a:t>print '"I am eating dinner," he growled.';</a:t>
            </a:r>
          </a:p>
          <a:p>
            <a:pPr marL="0" indent="0">
              <a:buNone/>
            </a:pPr>
            <a:r>
              <a:rPr lang="en-US" dirty="0"/>
              <a:t>?&gt;</a:t>
            </a:r>
          </a:p>
          <a:p>
            <a:pPr marL="0" indent="0">
              <a:buNone/>
            </a:pPr>
            <a:r>
              <a:rPr lang="en-US" b="1" dirty="0"/>
              <a:t>Output:</a:t>
            </a:r>
            <a:endParaRPr lang="en-US" dirty="0"/>
          </a:p>
          <a:p>
            <a:pPr marL="0" indent="0">
              <a:buNone/>
            </a:pPr>
            <a:r>
              <a:rPr lang="en-US" dirty="0"/>
              <a:t>I would like a bowl of soup.chicken06520"I am eating dinner," he growled.</a:t>
            </a:r>
          </a:p>
          <a:p>
            <a:pPr marL="0" indent="0">
              <a:buNone/>
            </a:pPr>
            <a:endParaRPr lang="en-US" dirty="0"/>
          </a:p>
          <a:p>
            <a:endParaRPr lang="en-US" dirty="0"/>
          </a:p>
        </p:txBody>
      </p:sp>
    </p:spTree>
    <p:extLst>
      <p:ext uri="{BB962C8B-B14F-4D97-AF65-F5344CB8AC3E}">
        <p14:creationId xmlns:p14="http://schemas.microsoft.com/office/powerpoint/2010/main" val="2565988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a:t>The output of those four print statements appears all on one line. No lines breaks are added by print. You may also use echo used in some PHP programs to print text. It works just like print. The single quotes aren't part of the string. They are delimiters, which tell the PHP interpreter where the start and end of the string is. </a:t>
            </a:r>
          </a:p>
          <a:p>
            <a:endParaRPr lang="en-US" dirty="0"/>
          </a:p>
        </p:txBody>
      </p:sp>
    </p:spTree>
    <p:extLst>
      <p:ext uri="{BB962C8B-B14F-4D97-AF65-F5344CB8AC3E}">
        <p14:creationId xmlns:p14="http://schemas.microsoft.com/office/powerpoint/2010/main" val="32663784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a:bodyPr>
          <a:lstStyle/>
          <a:p>
            <a:pPr marL="0" indent="0">
              <a:buNone/>
            </a:pPr>
            <a:r>
              <a:rPr lang="en-US" dirty="0"/>
              <a:t>If you want to include a single quote inside a string surrounded with single quotes, put a backslash (\) before the single quote inside the string:</a:t>
            </a:r>
          </a:p>
          <a:p>
            <a:pPr marL="0" indent="0">
              <a:buNone/>
            </a:pPr>
            <a:endParaRPr lang="en-US" dirty="0"/>
          </a:p>
          <a:p>
            <a:pPr marL="0" indent="0">
              <a:buNone/>
            </a:pPr>
            <a:r>
              <a:rPr lang="en-US" dirty="0"/>
              <a:t>&lt;?php</a:t>
            </a:r>
          </a:p>
          <a:p>
            <a:pPr marL="0" indent="0">
              <a:buNone/>
            </a:pPr>
            <a:r>
              <a:rPr lang="en-US" dirty="0"/>
              <a:t>print 'We\'ll each have a bowl of soup.';</a:t>
            </a:r>
          </a:p>
          <a:p>
            <a:pPr marL="0" indent="0">
              <a:buNone/>
            </a:pPr>
            <a:r>
              <a:rPr lang="en-US" dirty="0"/>
              <a:t>?&gt;</a:t>
            </a:r>
          </a:p>
          <a:p>
            <a:pPr marL="0" indent="0">
              <a:buNone/>
            </a:pPr>
            <a:r>
              <a:rPr lang="en-US" dirty="0"/>
              <a:t> </a:t>
            </a:r>
          </a:p>
          <a:p>
            <a:pPr marL="0" indent="0">
              <a:buNone/>
            </a:pPr>
            <a:r>
              <a:rPr lang="en-US" b="1" dirty="0"/>
              <a:t>Output:</a:t>
            </a:r>
            <a:endParaRPr lang="en-US" dirty="0"/>
          </a:p>
          <a:p>
            <a:pPr marL="0" indent="0">
              <a:buNone/>
            </a:pPr>
            <a:r>
              <a:rPr lang="en-US" dirty="0"/>
              <a:t>We'll each have a bowl of soup.</a:t>
            </a:r>
          </a:p>
          <a:p>
            <a:pPr marL="0" indent="0">
              <a:buNone/>
            </a:pPr>
            <a:endParaRPr lang="en-US" dirty="0"/>
          </a:p>
        </p:txBody>
      </p:sp>
    </p:spTree>
    <p:extLst>
      <p:ext uri="{BB962C8B-B14F-4D97-AF65-F5344CB8AC3E}">
        <p14:creationId xmlns:p14="http://schemas.microsoft.com/office/powerpoint/2010/main" val="26035169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a:bodyPr>
          <a:lstStyle/>
          <a:p>
            <a:pPr marL="0" indent="0">
              <a:buNone/>
            </a:pPr>
            <a:r>
              <a:rPr lang="en-US" dirty="0"/>
              <a:t>The backslash tells the PHP interpreter to treat the following character as a literal single quote instead of the single quote that means "end of string." This is called escaping, and the backslash is called the escape character. An escape character tells the system to do something special with the character that comes after it. Inside a single-quoted string, a single quote usually means "end of string." Preceding the single quote with a backslash changes its meaning to a literal single quote character.</a:t>
            </a:r>
          </a:p>
          <a:p>
            <a:endParaRPr lang="en-US" dirty="0"/>
          </a:p>
        </p:txBody>
      </p:sp>
    </p:spTree>
    <p:extLst>
      <p:ext uri="{BB962C8B-B14F-4D97-AF65-F5344CB8AC3E}">
        <p14:creationId xmlns:p14="http://schemas.microsoft.com/office/powerpoint/2010/main" val="317887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pPr marL="0" indent="0">
              <a:buNone/>
            </a:pPr>
            <a:r>
              <a:rPr lang="en-US" dirty="0"/>
              <a:t>You can also delimit strings with double quotes. Double-quoted strings are similar to single-quoted strings, but they have more special characters.</a:t>
            </a:r>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726902087"/>
              </p:ext>
            </p:extLst>
          </p:nvPr>
        </p:nvGraphicFramePr>
        <p:xfrm>
          <a:off x="1101928" y="2667159"/>
          <a:ext cx="6594272" cy="3581241"/>
        </p:xfrm>
        <a:graphic>
          <a:graphicData uri="http://schemas.openxmlformats.org/drawingml/2006/table">
            <a:tbl>
              <a:tblPr firstRow="1" firstCol="1" bandRow="1">
                <a:tableStyleId>{5C22544A-7EE6-4342-B048-85BDC9FD1C3A}</a:tableStyleId>
              </a:tblPr>
              <a:tblGrid>
                <a:gridCol w="3297136">
                  <a:extLst>
                    <a:ext uri="{9D8B030D-6E8A-4147-A177-3AD203B41FA5}">
                      <a16:colId xmlns:a16="http://schemas.microsoft.com/office/drawing/2014/main" val="20000"/>
                    </a:ext>
                  </a:extLst>
                </a:gridCol>
                <a:gridCol w="3297136">
                  <a:extLst>
                    <a:ext uri="{9D8B030D-6E8A-4147-A177-3AD203B41FA5}">
                      <a16:colId xmlns:a16="http://schemas.microsoft.com/office/drawing/2014/main" val="20001"/>
                    </a:ext>
                  </a:extLst>
                </a:gridCol>
              </a:tblGrid>
              <a:tr h="388656">
                <a:tc gridSpan="2">
                  <a:txBody>
                    <a:bodyPr/>
                    <a:lstStyle/>
                    <a:p>
                      <a:pPr marL="0" marR="0" algn="ctr">
                        <a:lnSpc>
                          <a:spcPct val="115000"/>
                        </a:lnSpc>
                        <a:spcBef>
                          <a:spcPts val="0"/>
                        </a:spcBef>
                        <a:spcAft>
                          <a:spcPts val="1000"/>
                        </a:spcAft>
                      </a:pPr>
                      <a:r>
                        <a:rPr lang="en-US" sz="1700" dirty="0">
                          <a:effectLst/>
                        </a:rPr>
                        <a:t>Special characters in double-quoted strings</a:t>
                      </a:r>
                      <a:endParaRPr lang="en-US" sz="1300" dirty="0">
                        <a:solidFill>
                          <a:srgbClr val="000000"/>
                        </a:solidFill>
                        <a:effectLst/>
                        <a:latin typeface="Calibri"/>
                        <a:ea typeface="Calibri"/>
                      </a:endParaRPr>
                    </a:p>
                  </a:txBody>
                  <a:tcPr marL="81822" marR="81822" marT="0" marB="0"/>
                </a:tc>
                <a:tc hMerge="1">
                  <a:txBody>
                    <a:bodyPr/>
                    <a:lstStyle/>
                    <a:p>
                      <a:endParaRPr lang="en-US"/>
                    </a:p>
                  </a:txBody>
                  <a:tcPr/>
                </a:tc>
                <a:extLst>
                  <a:ext uri="{0D108BD9-81ED-4DB2-BD59-A6C34878D82A}">
                    <a16:rowId xmlns:a16="http://schemas.microsoft.com/office/drawing/2014/main" val="10000"/>
                  </a:ext>
                </a:extLst>
              </a:tr>
              <a:tr h="359109">
                <a:tc>
                  <a:txBody>
                    <a:bodyPr/>
                    <a:lstStyle/>
                    <a:p>
                      <a:pPr marL="0" marR="0" algn="ctr">
                        <a:lnSpc>
                          <a:spcPct val="115000"/>
                        </a:lnSpc>
                        <a:spcBef>
                          <a:spcPts val="0"/>
                        </a:spcBef>
                        <a:spcAft>
                          <a:spcPts val="1000"/>
                        </a:spcAft>
                      </a:pPr>
                      <a:r>
                        <a:rPr lang="en-US" sz="1400" dirty="0">
                          <a:effectLst/>
                        </a:rPr>
                        <a:t>Character</a:t>
                      </a:r>
                      <a:endParaRPr lang="en-US" sz="1300" dirty="0">
                        <a:solidFill>
                          <a:srgbClr val="000000"/>
                        </a:solidFill>
                        <a:effectLst/>
                        <a:latin typeface="Calibri"/>
                        <a:ea typeface="Calibri"/>
                      </a:endParaRPr>
                    </a:p>
                  </a:txBody>
                  <a:tcPr marL="81822" marR="81822" marT="0" marB="0"/>
                </a:tc>
                <a:tc>
                  <a:txBody>
                    <a:bodyPr/>
                    <a:lstStyle/>
                    <a:p>
                      <a:pPr marL="0" marR="0" algn="ctr">
                        <a:lnSpc>
                          <a:spcPct val="115000"/>
                        </a:lnSpc>
                        <a:spcBef>
                          <a:spcPts val="0"/>
                        </a:spcBef>
                        <a:spcAft>
                          <a:spcPts val="1000"/>
                        </a:spcAft>
                      </a:pPr>
                      <a:r>
                        <a:rPr lang="en-US" sz="1400" dirty="0">
                          <a:effectLst/>
                        </a:rPr>
                        <a:t>Meaning</a:t>
                      </a:r>
                      <a:endParaRPr lang="en-US" sz="1300" dirty="0">
                        <a:solidFill>
                          <a:srgbClr val="000000"/>
                        </a:solidFill>
                        <a:effectLst/>
                        <a:latin typeface="Calibri"/>
                        <a:ea typeface="Calibri"/>
                      </a:endParaRPr>
                    </a:p>
                  </a:txBody>
                  <a:tcPr marL="81822" marR="81822" marT="0" marB="0"/>
                </a:tc>
                <a:extLst>
                  <a:ext uri="{0D108BD9-81ED-4DB2-BD59-A6C34878D82A}">
                    <a16:rowId xmlns:a16="http://schemas.microsoft.com/office/drawing/2014/main" val="10001"/>
                  </a:ext>
                </a:extLst>
              </a:tr>
              <a:tr h="349260">
                <a:tc>
                  <a:txBody>
                    <a:bodyPr/>
                    <a:lstStyle/>
                    <a:p>
                      <a:pPr marL="0" marR="0" algn="ctr">
                        <a:lnSpc>
                          <a:spcPct val="115000"/>
                        </a:lnSpc>
                        <a:spcBef>
                          <a:spcPts val="0"/>
                        </a:spcBef>
                        <a:spcAft>
                          <a:spcPts val="1000"/>
                        </a:spcAft>
                      </a:pPr>
                      <a:r>
                        <a:rPr lang="en-US" sz="1400" dirty="0">
                          <a:effectLst/>
                        </a:rPr>
                        <a:t>\n</a:t>
                      </a:r>
                      <a:endParaRPr lang="en-US" sz="1300" dirty="0">
                        <a:solidFill>
                          <a:srgbClr val="000000"/>
                        </a:solidFill>
                        <a:effectLst/>
                        <a:latin typeface="Calibri"/>
                        <a:ea typeface="Calibri"/>
                      </a:endParaRPr>
                    </a:p>
                  </a:txBody>
                  <a:tcPr marL="81822" marR="81822" marT="0" marB="0"/>
                </a:tc>
                <a:tc>
                  <a:txBody>
                    <a:bodyPr/>
                    <a:lstStyle/>
                    <a:p>
                      <a:pPr marL="0" marR="0" algn="ctr">
                        <a:lnSpc>
                          <a:spcPct val="115000"/>
                        </a:lnSpc>
                        <a:spcBef>
                          <a:spcPts val="0"/>
                        </a:spcBef>
                        <a:spcAft>
                          <a:spcPts val="1000"/>
                        </a:spcAft>
                      </a:pPr>
                      <a:r>
                        <a:rPr lang="en-US" sz="1400" dirty="0">
                          <a:effectLst/>
                        </a:rPr>
                        <a:t>Newline(ASCII 10)</a:t>
                      </a:r>
                      <a:endParaRPr lang="en-US" sz="1300" dirty="0">
                        <a:solidFill>
                          <a:srgbClr val="000000"/>
                        </a:solidFill>
                        <a:effectLst/>
                        <a:latin typeface="Calibri"/>
                        <a:ea typeface="Calibri"/>
                      </a:endParaRPr>
                    </a:p>
                  </a:txBody>
                  <a:tcPr marL="81822" marR="81822" marT="0" marB="0"/>
                </a:tc>
                <a:extLst>
                  <a:ext uri="{0D108BD9-81ED-4DB2-BD59-A6C34878D82A}">
                    <a16:rowId xmlns:a16="http://schemas.microsoft.com/office/drawing/2014/main" val="10002"/>
                  </a:ext>
                </a:extLst>
              </a:tr>
              <a:tr h="359109">
                <a:tc>
                  <a:txBody>
                    <a:bodyPr/>
                    <a:lstStyle/>
                    <a:p>
                      <a:pPr marL="0" marR="0" algn="ctr">
                        <a:lnSpc>
                          <a:spcPct val="115000"/>
                        </a:lnSpc>
                        <a:spcBef>
                          <a:spcPts val="0"/>
                        </a:spcBef>
                        <a:spcAft>
                          <a:spcPts val="1000"/>
                        </a:spcAft>
                      </a:pPr>
                      <a:r>
                        <a:rPr lang="en-US" sz="1400" dirty="0">
                          <a:effectLst/>
                        </a:rPr>
                        <a:t>\r</a:t>
                      </a:r>
                      <a:endParaRPr lang="en-US" sz="1300" dirty="0">
                        <a:solidFill>
                          <a:srgbClr val="000000"/>
                        </a:solidFill>
                        <a:effectLst/>
                        <a:latin typeface="Calibri"/>
                        <a:ea typeface="Calibri"/>
                      </a:endParaRPr>
                    </a:p>
                  </a:txBody>
                  <a:tcPr marL="81822" marR="81822" marT="0" marB="0"/>
                </a:tc>
                <a:tc>
                  <a:txBody>
                    <a:bodyPr/>
                    <a:lstStyle/>
                    <a:p>
                      <a:pPr marL="0" marR="0" algn="ctr">
                        <a:lnSpc>
                          <a:spcPct val="115000"/>
                        </a:lnSpc>
                        <a:spcBef>
                          <a:spcPts val="0"/>
                        </a:spcBef>
                        <a:spcAft>
                          <a:spcPts val="1000"/>
                        </a:spcAft>
                      </a:pPr>
                      <a:r>
                        <a:rPr lang="en-US" sz="1400" dirty="0">
                          <a:effectLst/>
                        </a:rPr>
                        <a:t>Carriage return (ASCII 13)</a:t>
                      </a:r>
                      <a:endParaRPr lang="en-US" sz="1300" dirty="0">
                        <a:solidFill>
                          <a:srgbClr val="000000"/>
                        </a:solidFill>
                        <a:effectLst/>
                        <a:latin typeface="Calibri"/>
                        <a:ea typeface="Calibri"/>
                      </a:endParaRPr>
                    </a:p>
                  </a:txBody>
                  <a:tcPr marL="81822" marR="81822" marT="0" marB="0"/>
                </a:tc>
                <a:extLst>
                  <a:ext uri="{0D108BD9-81ED-4DB2-BD59-A6C34878D82A}">
                    <a16:rowId xmlns:a16="http://schemas.microsoft.com/office/drawing/2014/main" val="10003"/>
                  </a:ext>
                </a:extLst>
              </a:tr>
              <a:tr h="349260">
                <a:tc>
                  <a:txBody>
                    <a:bodyPr/>
                    <a:lstStyle/>
                    <a:p>
                      <a:pPr marL="0" marR="0" algn="ctr">
                        <a:lnSpc>
                          <a:spcPct val="115000"/>
                        </a:lnSpc>
                        <a:spcBef>
                          <a:spcPts val="0"/>
                        </a:spcBef>
                        <a:spcAft>
                          <a:spcPts val="1000"/>
                        </a:spcAft>
                      </a:pPr>
                      <a:r>
                        <a:rPr lang="en-US" sz="1400" dirty="0">
                          <a:effectLst/>
                        </a:rPr>
                        <a:t>\t</a:t>
                      </a:r>
                      <a:endParaRPr lang="en-US" sz="1300" dirty="0">
                        <a:solidFill>
                          <a:srgbClr val="000000"/>
                        </a:solidFill>
                        <a:effectLst/>
                        <a:latin typeface="Calibri"/>
                        <a:ea typeface="Calibri"/>
                      </a:endParaRPr>
                    </a:p>
                  </a:txBody>
                  <a:tcPr marL="81822" marR="81822" marT="0" marB="0"/>
                </a:tc>
                <a:tc>
                  <a:txBody>
                    <a:bodyPr/>
                    <a:lstStyle/>
                    <a:p>
                      <a:pPr marL="0" marR="0" algn="ctr">
                        <a:lnSpc>
                          <a:spcPct val="115000"/>
                        </a:lnSpc>
                        <a:spcBef>
                          <a:spcPts val="0"/>
                        </a:spcBef>
                        <a:spcAft>
                          <a:spcPts val="1000"/>
                        </a:spcAft>
                      </a:pPr>
                      <a:r>
                        <a:rPr lang="en-US" sz="1400" dirty="0">
                          <a:effectLst/>
                        </a:rPr>
                        <a:t>Tab (ASCII 9)</a:t>
                      </a:r>
                      <a:endParaRPr lang="en-US" sz="1300" dirty="0">
                        <a:solidFill>
                          <a:srgbClr val="000000"/>
                        </a:solidFill>
                        <a:effectLst/>
                        <a:latin typeface="Calibri"/>
                        <a:ea typeface="Calibri"/>
                      </a:endParaRPr>
                    </a:p>
                  </a:txBody>
                  <a:tcPr marL="81822" marR="81822" marT="0" marB="0"/>
                </a:tc>
                <a:extLst>
                  <a:ext uri="{0D108BD9-81ED-4DB2-BD59-A6C34878D82A}">
                    <a16:rowId xmlns:a16="http://schemas.microsoft.com/office/drawing/2014/main" val="10004"/>
                  </a:ext>
                </a:extLst>
              </a:tr>
              <a:tr h="349260">
                <a:tc>
                  <a:txBody>
                    <a:bodyPr/>
                    <a:lstStyle/>
                    <a:p>
                      <a:pPr marL="0" marR="0" algn="ctr">
                        <a:lnSpc>
                          <a:spcPct val="115000"/>
                        </a:lnSpc>
                        <a:spcBef>
                          <a:spcPts val="0"/>
                        </a:spcBef>
                        <a:spcAft>
                          <a:spcPts val="1000"/>
                        </a:spcAft>
                      </a:pPr>
                      <a:r>
                        <a:rPr lang="en-US" sz="1400" dirty="0">
                          <a:effectLst/>
                        </a:rPr>
                        <a:t>\\</a:t>
                      </a:r>
                      <a:endParaRPr lang="en-US" sz="1300" dirty="0">
                        <a:solidFill>
                          <a:srgbClr val="000000"/>
                        </a:solidFill>
                        <a:effectLst/>
                        <a:latin typeface="Calibri"/>
                        <a:ea typeface="Calibri"/>
                      </a:endParaRPr>
                    </a:p>
                  </a:txBody>
                  <a:tcPr marL="81822" marR="81822" marT="0" marB="0"/>
                </a:tc>
                <a:tc>
                  <a:txBody>
                    <a:bodyPr/>
                    <a:lstStyle/>
                    <a:p>
                      <a:pPr marL="0" marR="0" algn="ctr">
                        <a:lnSpc>
                          <a:spcPct val="115000"/>
                        </a:lnSpc>
                        <a:spcBef>
                          <a:spcPts val="0"/>
                        </a:spcBef>
                        <a:spcAft>
                          <a:spcPts val="1000"/>
                        </a:spcAft>
                      </a:pPr>
                      <a:r>
                        <a:rPr lang="en-US" sz="1400" dirty="0">
                          <a:effectLst/>
                        </a:rPr>
                        <a:t>\</a:t>
                      </a:r>
                      <a:endParaRPr lang="en-US" sz="1300" dirty="0">
                        <a:solidFill>
                          <a:srgbClr val="000000"/>
                        </a:solidFill>
                        <a:effectLst/>
                        <a:latin typeface="Calibri"/>
                        <a:ea typeface="Calibri"/>
                      </a:endParaRPr>
                    </a:p>
                  </a:txBody>
                  <a:tcPr marL="81822" marR="81822" marT="0" marB="0"/>
                </a:tc>
                <a:extLst>
                  <a:ext uri="{0D108BD9-81ED-4DB2-BD59-A6C34878D82A}">
                    <a16:rowId xmlns:a16="http://schemas.microsoft.com/office/drawing/2014/main" val="10005"/>
                  </a:ext>
                </a:extLst>
              </a:tr>
              <a:tr h="359109">
                <a:tc>
                  <a:txBody>
                    <a:bodyPr/>
                    <a:lstStyle/>
                    <a:p>
                      <a:pPr marL="0" marR="0" algn="ctr">
                        <a:lnSpc>
                          <a:spcPct val="115000"/>
                        </a:lnSpc>
                        <a:spcBef>
                          <a:spcPts val="0"/>
                        </a:spcBef>
                        <a:spcAft>
                          <a:spcPts val="1000"/>
                        </a:spcAft>
                      </a:pPr>
                      <a:r>
                        <a:rPr lang="en-US" sz="1400" dirty="0">
                          <a:effectLst/>
                        </a:rPr>
                        <a:t>\$</a:t>
                      </a:r>
                      <a:endParaRPr lang="en-US" sz="1300" dirty="0">
                        <a:solidFill>
                          <a:srgbClr val="000000"/>
                        </a:solidFill>
                        <a:effectLst/>
                        <a:latin typeface="Calibri"/>
                        <a:ea typeface="Calibri"/>
                      </a:endParaRPr>
                    </a:p>
                  </a:txBody>
                  <a:tcPr marL="81822" marR="81822" marT="0" marB="0"/>
                </a:tc>
                <a:tc>
                  <a:txBody>
                    <a:bodyPr/>
                    <a:lstStyle/>
                    <a:p>
                      <a:pPr marL="0" marR="0" algn="ctr">
                        <a:lnSpc>
                          <a:spcPct val="115000"/>
                        </a:lnSpc>
                        <a:spcBef>
                          <a:spcPts val="0"/>
                        </a:spcBef>
                        <a:spcAft>
                          <a:spcPts val="1000"/>
                        </a:spcAft>
                      </a:pPr>
                      <a:r>
                        <a:rPr lang="en-US" sz="1400" dirty="0">
                          <a:effectLst/>
                        </a:rPr>
                        <a:t>$</a:t>
                      </a:r>
                      <a:endParaRPr lang="en-US" sz="1300" dirty="0">
                        <a:solidFill>
                          <a:srgbClr val="000000"/>
                        </a:solidFill>
                        <a:effectLst/>
                        <a:latin typeface="Calibri"/>
                        <a:ea typeface="Calibri"/>
                      </a:endParaRPr>
                    </a:p>
                  </a:txBody>
                  <a:tcPr marL="81822" marR="81822" marT="0" marB="0"/>
                </a:tc>
                <a:extLst>
                  <a:ext uri="{0D108BD9-81ED-4DB2-BD59-A6C34878D82A}">
                    <a16:rowId xmlns:a16="http://schemas.microsoft.com/office/drawing/2014/main" val="10006"/>
                  </a:ext>
                </a:extLst>
              </a:tr>
              <a:tr h="349260">
                <a:tc>
                  <a:txBody>
                    <a:bodyPr/>
                    <a:lstStyle/>
                    <a:p>
                      <a:pPr marL="0" marR="0" algn="ctr">
                        <a:lnSpc>
                          <a:spcPct val="115000"/>
                        </a:lnSpc>
                        <a:spcBef>
                          <a:spcPts val="0"/>
                        </a:spcBef>
                        <a:spcAft>
                          <a:spcPts val="1000"/>
                        </a:spcAft>
                      </a:pPr>
                      <a:r>
                        <a:rPr lang="en-US" sz="1400" dirty="0">
                          <a:effectLst/>
                        </a:rPr>
                        <a:t>\"</a:t>
                      </a:r>
                      <a:endParaRPr lang="en-US" sz="1300" dirty="0">
                        <a:solidFill>
                          <a:srgbClr val="000000"/>
                        </a:solidFill>
                        <a:effectLst/>
                        <a:latin typeface="Calibri"/>
                        <a:ea typeface="Calibri"/>
                      </a:endParaRPr>
                    </a:p>
                  </a:txBody>
                  <a:tcPr marL="81822" marR="81822" marT="0" marB="0"/>
                </a:tc>
                <a:tc>
                  <a:txBody>
                    <a:bodyPr/>
                    <a:lstStyle/>
                    <a:p>
                      <a:pPr marL="0" marR="0" algn="ctr">
                        <a:lnSpc>
                          <a:spcPct val="115000"/>
                        </a:lnSpc>
                        <a:spcBef>
                          <a:spcPts val="0"/>
                        </a:spcBef>
                        <a:spcAft>
                          <a:spcPts val="1000"/>
                        </a:spcAft>
                      </a:pPr>
                      <a:r>
                        <a:rPr lang="en-US" sz="1400" dirty="0">
                          <a:effectLst/>
                        </a:rPr>
                        <a:t>"</a:t>
                      </a:r>
                      <a:endParaRPr lang="en-US" sz="1300" dirty="0">
                        <a:solidFill>
                          <a:srgbClr val="000000"/>
                        </a:solidFill>
                        <a:effectLst/>
                        <a:latin typeface="Calibri"/>
                        <a:ea typeface="Calibri"/>
                      </a:endParaRPr>
                    </a:p>
                  </a:txBody>
                  <a:tcPr marL="81822" marR="81822" marT="0" marB="0"/>
                </a:tc>
                <a:extLst>
                  <a:ext uri="{0D108BD9-81ED-4DB2-BD59-A6C34878D82A}">
                    <a16:rowId xmlns:a16="http://schemas.microsoft.com/office/drawing/2014/main" val="10007"/>
                  </a:ext>
                </a:extLst>
              </a:tr>
              <a:tr h="359109">
                <a:tc>
                  <a:txBody>
                    <a:bodyPr/>
                    <a:lstStyle/>
                    <a:p>
                      <a:pPr marL="0" marR="0" algn="ctr">
                        <a:lnSpc>
                          <a:spcPct val="115000"/>
                        </a:lnSpc>
                        <a:spcBef>
                          <a:spcPts val="0"/>
                        </a:spcBef>
                        <a:spcAft>
                          <a:spcPts val="1000"/>
                        </a:spcAft>
                      </a:pPr>
                      <a:r>
                        <a:rPr lang="en-US" sz="1400" dirty="0">
                          <a:effectLst/>
                        </a:rPr>
                        <a:t>\0..\777</a:t>
                      </a:r>
                      <a:endParaRPr lang="en-US" sz="1300" dirty="0">
                        <a:solidFill>
                          <a:srgbClr val="000000"/>
                        </a:solidFill>
                        <a:effectLst/>
                        <a:latin typeface="Calibri"/>
                        <a:ea typeface="Calibri"/>
                      </a:endParaRPr>
                    </a:p>
                  </a:txBody>
                  <a:tcPr marL="81822" marR="81822" marT="0" marB="0"/>
                </a:tc>
                <a:tc>
                  <a:txBody>
                    <a:bodyPr/>
                    <a:lstStyle/>
                    <a:p>
                      <a:pPr marL="0" marR="0" algn="ctr">
                        <a:lnSpc>
                          <a:spcPct val="115000"/>
                        </a:lnSpc>
                        <a:spcBef>
                          <a:spcPts val="0"/>
                        </a:spcBef>
                        <a:spcAft>
                          <a:spcPts val="1000"/>
                        </a:spcAft>
                      </a:pPr>
                      <a:r>
                        <a:rPr lang="en-US" sz="1400" dirty="0">
                          <a:effectLst/>
                        </a:rPr>
                        <a:t>Octal (Base 8) Number</a:t>
                      </a:r>
                      <a:endParaRPr lang="en-US" sz="1300" dirty="0">
                        <a:solidFill>
                          <a:srgbClr val="000000"/>
                        </a:solidFill>
                        <a:effectLst/>
                        <a:latin typeface="Calibri"/>
                        <a:ea typeface="Calibri"/>
                      </a:endParaRPr>
                    </a:p>
                  </a:txBody>
                  <a:tcPr marL="81822" marR="81822" marT="0" marB="0"/>
                </a:tc>
                <a:extLst>
                  <a:ext uri="{0D108BD9-81ED-4DB2-BD59-A6C34878D82A}">
                    <a16:rowId xmlns:a16="http://schemas.microsoft.com/office/drawing/2014/main" val="10008"/>
                  </a:ext>
                </a:extLst>
              </a:tr>
              <a:tr h="359109">
                <a:tc>
                  <a:txBody>
                    <a:bodyPr/>
                    <a:lstStyle/>
                    <a:p>
                      <a:pPr marL="0" marR="0" algn="ctr">
                        <a:lnSpc>
                          <a:spcPct val="115000"/>
                        </a:lnSpc>
                        <a:spcBef>
                          <a:spcPts val="0"/>
                        </a:spcBef>
                        <a:spcAft>
                          <a:spcPts val="1000"/>
                        </a:spcAft>
                      </a:pPr>
                      <a:r>
                        <a:rPr lang="en-US" sz="1400" dirty="0">
                          <a:effectLst/>
                        </a:rPr>
                        <a:t>\x0..\xFF</a:t>
                      </a:r>
                      <a:endParaRPr lang="en-US" sz="1300" dirty="0">
                        <a:solidFill>
                          <a:srgbClr val="000000"/>
                        </a:solidFill>
                        <a:effectLst/>
                        <a:latin typeface="Calibri"/>
                        <a:ea typeface="Calibri"/>
                      </a:endParaRPr>
                    </a:p>
                  </a:txBody>
                  <a:tcPr marL="81822" marR="81822" marT="0" marB="0"/>
                </a:tc>
                <a:tc>
                  <a:txBody>
                    <a:bodyPr/>
                    <a:lstStyle/>
                    <a:p>
                      <a:pPr marL="0" marR="0" algn="ctr">
                        <a:lnSpc>
                          <a:spcPct val="115000"/>
                        </a:lnSpc>
                        <a:spcBef>
                          <a:spcPts val="0"/>
                        </a:spcBef>
                        <a:spcAft>
                          <a:spcPts val="1000"/>
                        </a:spcAft>
                      </a:pPr>
                      <a:r>
                        <a:rPr lang="en-US" sz="1400" dirty="0">
                          <a:effectLst/>
                        </a:rPr>
                        <a:t>Hexadecimal (Base 16) Number</a:t>
                      </a:r>
                      <a:endParaRPr lang="en-US" sz="1300" dirty="0">
                        <a:solidFill>
                          <a:srgbClr val="000000"/>
                        </a:solidFill>
                        <a:effectLst/>
                        <a:latin typeface="Calibri"/>
                        <a:ea typeface="Calibri"/>
                      </a:endParaRPr>
                    </a:p>
                  </a:txBody>
                  <a:tcPr marL="81822" marR="81822" marT="0" marB="0"/>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4890538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a:bodyPr>
          <a:lstStyle/>
          <a:p>
            <a:pPr marL="0" indent="0">
              <a:buNone/>
            </a:pPr>
            <a:r>
              <a:rPr lang="en-US" dirty="0"/>
              <a:t>The biggest difference between single-quoted and double-quoted strings is that when you include variable names inside a double-quoted string, the value of the variable is substituted into the string, which doesn't happen with single-quoted strings. </a:t>
            </a:r>
          </a:p>
          <a:p>
            <a:pPr marL="0" indent="0">
              <a:buNone/>
            </a:pPr>
            <a:r>
              <a:rPr lang="en-US" dirty="0"/>
              <a:t> </a:t>
            </a:r>
          </a:p>
          <a:p>
            <a:pPr marL="0" indent="0">
              <a:buNone/>
            </a:pPr>
            <a:r>
              <a:rPr lang="en-US" dirty="0"/>
              <a:t>For example, if the variable $user held the value Bill, then 'Hi $user' is just that: Hi $user. However, "Hi $user" is Hi Bill.</a:t>
            </a:r>
          </a:p>
          <a:p>
            <a:endParaRPr lang="en-US" dirty="0"/>
          </a:p>
        </p:txBody>
      </p:sp>
    </p:spTree>
    <p:extLst>
      <p:ext uri="{BB962C8B-B14F-4D97-AF65-F5344CB8AC3E}">
        <p14:creationId xmlns:p14="http://schemas.microsoft.com/office/powerpoint/2010/main" val="40799335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Constant</a:t>
            </a:r>
            <a:endParaRPr lang="en-US" dirty="0"/>
          </a:p>
        </p:txBody>
      </p:sp>
      <p:sp>
        <p:nvSpPr>
          <p:cNvPr id="2" name="Content Placeholder 1"/>
          <p:cNvSpPr>
            <a:spLocks noGrp="1"/>
          </p:cNvSpPr>
          <p:nvPr>
            <p:ph idx="1"/>
          </p:nvPr>
        </p:nvSpPr>
        <p:spPr/>
        <p:txBody>
          <a:bodyPr/>
          <a:lstStyle/>
          <a:p>
            <a:pPr marL="109728" indent="0">
              <a:buNone/>
            </a:pPr>
            <a:r>
              <a:rPr lang="en-US" dirty="0"/>
              <a:t>A constant is a name or an identifier for a simple value. A constant value cannot change during the execution of the script. By default a constant is a case-sensitive. By convention, constant identifiers are always uppercase.</a:t>
            </a:r>
          </a:p>
          <a:p>
            <a:endParaRPr lang="en-US" dirty="0"/>
          </a:p>
        </p:txBody>
      </p:sp>
    </p:spTree>
    <p:extLst>
      <p:ext uri="{BB962C8B-B14F-4D97-AF65-F5344CB8AC3E}">
        <p14:creationId xmlns:p14="http://schemas.microsoft.com/office/powerpoint/2010/main" val="41722828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Constant() function</a:t>
            </a:r>
            <a:endParaRPr lang="en-US" dirty="0"/>
          </a:p>
        </p:txBody>
      </p:sp>
      <p:sp>
        <p:nvSpPr>
          <p:cNvPr id="2" name="Content Placeholder 1"/>
          <p:cNvSpPr>
            <a:spLocks noGrp="1"/>
          </p:cNvSpPr>
          <p:nvPr>
            <p:ph idx="1"/>
          </p:nvPr>
        </p:nvSpPr>
        <p:spPr/>
        <p:txBody>
          <a:bodyPr>
            <a:normAutofit fontScale="92500" lnSpcReduction="20000"/>
          </a:bodyPr>
          <a:lstStyle/>
          <a:p>
            <a:pPr marL="109728" indent="0">
              <a:buNone/>
            </a:pPr>
            <a:r>
              <a:rPr lang="en-US" dirty="0"/>
              <a:t>As indicated by name, this function will return the value of the constant.</a:t>
            </a:r>
          </a:p>
          <a:p>
            <a:pPr marL="109728" indent="0">
              <a:buNone/>
            </a:pPr>
            <a:r>
              <a:rPr lang="en-US" b="1" dirty="0"/>
              <a:t>Example:</a:t>
            </a:r>
            <a:endParaRPr lang="en-US" dirty="0"/>
          </a:p>
          <a:p>
            <a:pPr marL="109728" indent="0">
              <a:buNone/>
            </a:pPr>
            <a:r>
              <a:rPr lang="en-US" dirty="0"/>
              <a:t>&lt;?php</a:t>
            </a:r>
          </a:p>
          <a:p>
            <a:pPr marL="109728" indent="0">
              <a:buNone/>
            </a:pPr>
            <a:r>
              <a:rPr lang="en-US" dirty="0"/>
              <a:t>define ("MINSIZE",50);</a:t>
            </a:r>
          </a:p>
          <a:p>
            <a:pPr marL="109728" indent="0">
              <a:buNone/>
            </a:pPr>
            <a:r>
              <a:rPr lang="en-US" dirty="0"/>
              <a:t>echo MINSIZE;</a:t>
            </a:r>
          </a:p>
          <a:p>
            <a:pPr marL="109728" indent="0">
              <a:buNone/>
            </a:pPr>
            <a:r>
              <a:rPr lang="en-US" dirty="0"/>
              <a:t>echo constant ("MINSIZE"); //same thing as above</a:t>
            </a:r>
          </a:p>
          <a:p>
            <a:pPr marL="109728" indent="0">
              <a:buNone/>
            </a:pPr>
            <a:r>
              <a:rPr lang="en-US" dirty="0"/>
              <a:t>?&gt;</a:t>
            </a:r>
          </a:p>
          <a:p>
            <a:pPr marL="109728" indent="0">
              <a:buNone/>
            </a:pPr>
            <a:endParaRPr lang="en-US" dirty="0"/>
          </a:p>
          <a:p>
            <a:pPr marL="109728" indent="0">
              <a:buNone/>
            </a:pPr>
            <a:r>
              <a:rPr lang="en-US" b="1" dirty="0"/>
              <a:t>Output:</a:t>
            </a:r>
          </a:p>
          <a:p>
            <a:pPr marL="109728" indent="0">
              <a:buNone/>
            </a:pPr>
            <a:r>
              <a:rPr lang="en-US" dirty="0"/>
              <a:t>?</a:t>
            </a:r>
          </a:p>
          <a:p>
            <a:endParaRPr lang="en-US" dirty="0"/>
          </a:p>
        </p:txBody>
      </p:sp>
    </p:spTree>
    <p:extLst>
      <p:ext uri="{BB962C8B-B14F-4D97-AF65-F5344CB8AC3E}">
        <p14:creationId xmlns:p14="http://schemas.microsoft.com/office/powerpoint/2010/main" val="37911912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Numbers</a:t>
            </a:r>
            <a:endParaRPr lang="en-US" dirty="0"/>
          </a:p>
        </p:txBody>
      </p:sp>
      <p:sp>
        <p:nvSpPr>
          <p:cNvPr id="2" name="Content Placeholder 1"/>
          <p:cNvSpPr>
            <a:spLocks noGrp="1"/>
          </p:cNvSpPr>
          <p:nvPr>
            <p:ph idx="1"/>
          </p:nvPr>
        </p:nvSpPr>
        <p:spPr/>
        <p:txBody>
          <a:bodyPr/>
          <a:lstStyle/>
          <a:p>
            <a:pPr marL="109728" indent="0">
              <a:buNone/>
            </a:pPr>
            <a:r>
              <a:rPr lang="en-US" dirty="0"/>
              <a:t>Numbers in PHP are expressed using familiar notation, although you can't use commas or any other characters to group thousands. You don't have to do anything special to use a number with a decimal part as compared to an integer.</a:t>
            </a:r>
          </a:p>
          <a:p>
            <a:endParaRPr lang="en-US" dirty="0"/>
          </a:p>
        </p:txBody>
      </p:sp>
    </p:spTree>
    <p:extLst>
      <p:ext uri="{BB962C8B-B14F-4D97-AF65-F5344CB8AC3E}">
        <p14:creationId xmlns:p14="http://schemas.microsoft.com/office/powerpoint/2010/main" val="40841061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Example: Numbers</a:t>
            </a:r>
            <a:endParaRPr lang="en-US" dirty="0"/>
          </a:p>
        </p:txBody>
      </p:sp>
      <p:sp>
        <p:nvSpPr>
          <p:cNvPr id="2" name="Content Placeholder 1"/>
          <p:cNvSpPr>
            <a:spLocks noGrp="1"/>
          </p:cNvSpPr>
          <p:nvPr>
            <p:ph idx="1"/>
          </p:nvPr>
        </p:nvSpPr>
        <p:spPr/>
        <p:txBody>
          <a:bodyPr>
            <a:normAutofit fontScale="85000" lnSpcReduction="20000"/>
          </a:bodyPr>
          <a:lstStyle/>
          <a:p>
            <a:pPr marL="109728" indent="0">
              <a:buNone/>
            </a:pPr>
            <a:r>
              <a:rPr lang="en-US" dirty="0"/>
              <a:t>print 56;</a:t>
            </a:r>
          </a:p>
          <a:p>
            <a:pPr marL="109728" indent="0">
              <a:buNone/>
            </a:pPr>
            <a:r>
              <a:rPr lang="en-US" dirty="0"/>
              <a:t>print 56.3;</a:t>
            </a:r>
          </a:p>
          <a:p>
            <a:pPr marL="109728" indent="0">
              <a:buNone/>
            </a:pPr>
            <a:r>
              <a:rPr lang="en-US" dirty="0"/>
              <a:t>print 56.30;</a:t>
            </a:r>
          </a:p>
          <a:p>
            <a:pPr marL="109728" indent="0">
              <a:buNone/>
            </a:pPr>
            <a:r>
              <a:rPr lang="en-US" dirty="0"/>
              <a:t>print 0.774422;</a:t>
            </a:r>
          </a:p>
          <a:p>
            <a:pPr marL="109728" indent="0">
              <a:buNone/>
            </a:pPr>
            <a:r>
              <a:rPr lang="en-US" dirty="0"/>
              <a:t>print 16777.216;</a:t>
            </a:r>
          </a:p>
          <a:p>
            <a:pPr marL="109728" indent="0">
              <a:buNone/>
            </a:pPr>
            <a:r>
              <a:rPr lang="en-US" dirty="0"/>
              <a:t>print 0;</a:t>
            </a:r>
          </a:p>
          <a:p>
            <a:pPr marL="109728" indent="0">
              <a:buNone/>
            </a:pPr>
            <a:r>
              <a:rPr lang="en-US" dirty="0"/>
              <a:t>print -213;</a:t>
            </a:r>
          </a:p>
          <a:p>
            <a:pPr marL="109728" indent="0">
              <a:buNone/>
            </a:pPr>
            <a:r>
              <a:rPr lang="en-US" dirty="0"/>
              <a:t>print 1298317;</a:t>
            </a:r>
          </a:p>
          <a:p>
            <a:pPr marL="109728" indent="0">
              <a:buNone/>
            </a:pPr>
            <a:r>
              <a:rPr lang="en-US" dirty="0"/>
              <a:t>print -9912111;</a:t>
            </a:r>
          </a:p>
          <a:p>
            <a:pPr marL="109728" indent="0">
              <a:buNone/>
            </a:pPr>
            <a:r>
              <a:rPr lang="en-US" dirty="0"/>
              <a:t>print -12.52222;</a:t>
            </a:r>
          </a:p>
          <a:p>
            <a:pPr marL="109728" indent="0">
              <a:buNone/>
            </a:pPr>
            <a:r>
              <a:rPr lang="en-US" dirty="0"/>
              <a:t>print 0.00;</a:t>
            </a:r>
          </a:p>
          <a:p>
            <a:endParaRPr lang="en-US" dirty="0"/>
          </a:p>
        </p:txBody>
      </p:sp>
    </p:spTree>
    <p:extLst>
      <p:ext uri="{BB962C8B-B14F-4D97-AF65-F5344CB8AC3E}">
        <p14:creationId xmlns:p14="http://schemas.microsoft.com/office/powerpoint/2010/main" val="10313563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Using Different Kinds of Numbers</a:t>
            </a:r>
            <a:endParaRPr lang="en-US" dirty="0"/>
          </a:p>
        </p:txBody>
      </p:sp>
      <p:sp>
        <p:nvSpPr>
          <p:cNvPr id="2" name="Content Placeholder 1"/>
          <p:cNvSpPr>
            <a:spLocks noGrp="1"/>
          </p:cNvSpPr>
          <p:nvPr>
            <p:ph idx="1"/>
          </p:nvPr>
        </p:nvSpPr>
        <p:spPr/>
        <p:txBody>
          <a:bodyPr/>
          <a:lstStyle/>
          <a:p>
            <a:pPr marL="109728" indent="0">
              <a:buNone/>
            </a:pPr>
            <a:r>
              <a:rPr lang="en-US" dirty="0"/>
              <a:t>Internally, the PHP interpreter makes a distinction between numbers with a decimal part and those without one. The former are called </a:t>
            </a:r>
            <a:r>
              <a:rPr lang="en-US" b="1" dirty="0"/>
              <a:t>floating-point</a:t>
            </a:r>
            <a:r>
              <a:rPr lang="en-US" dirty="0"/>
              <a:t> numbers and the latter are called </a:t>
            </a:r>
            <a:r>
              <a:rPr lang="en-US" b="1" dirty="0"/>
              <a:t>integers. </a:t>
            </a:r>
          </a:p>
          <a:p>
            <a:pPr marL="109728" indent="0">
              <a:buNone/>
            </a:pPr>
            <a:r>
              <a:rPr lang="en-US" dirty="0"/>
              <a:t>Floating-point numbers take their name from the fact that the decimal point can "float" around to represent different amounts of precision.</a:t>
            </a:r>
          </a:p>
          <a:p>
            <a:endParaRPr lang="en-US" dirty="0"/>
          </a:p>
        </p:txBody>
      </p:sp>
    </p:spTree>
    <p:extLst>
      <p:ext uri="{BB962C8B-B14F-4D97-AF65-F5344CB8AC3E}">
        <p14:creationId xmlns:p14="http://schemas.microsoft.com/office/powerpoint/2010/main" val="14185893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F10F8-E222-4937-A8D3-81303367A599}"/>
              </a:ext>
            </a:extLst>
          </p:cNvPr>
          <p:cNvSpPr>
            <a:spLocks noGrp="1"/>
          </p:cNvSpPr>
          <p:nvPr>
            <p:ph type="title"/>
          </p:nvPr>
        </p:nvSpPr>
        <p:spPr>
          <a:xfrm>
            <a:off x="822960" y="286605"/>
            <a:ext cx="7543800" cy="780196"/>
          </a:xfrm>
        </p:spPr>
        <p:txBody>
          <a:bodyPr/>
          <a:lstStyle/>
          <a:p>
            <a:r>
              <a:rPr lang="en-US" b="1" dirty="0"/>
              <a:t>Boolean</a:t>
            </a:r>
          </a:p>
        </p:txBody>
      </p:sp>
      <p:sp>
        <p:nvSpPr>
          <p:cNvPr id="3" name="Content Placeholder 2">
            <a:extLst>
              <a:ext uri="{FF2B5EF4-FFF2-40B4-BE49-F238E27FC236}">
                <a16:creationId xmlns:a16="http://schemas.microsoft.com/office/drawing/2014/main" id="{3C6F0994-A9DB-48A6-BF0C-457CEA83F546}"/>
              </a:ext>
            </a:extLst>
          </p:cNvPr>
          <p:cNvSpPr>
            <a:spLocks noGrp="1"/>
          </p:cNvSpPr>
          <p:nvPr>
            <p:ph idx="1"/>
          </p:nvPr>
        </p:nvSpPr>
        <p:spPr>
          <a:xfrm>
            <a:off x="822959" y="1219200"/>
            <a:ext cx="7543801" cy="4649894"/>
          </a:xfrm>
        </p:spPr>
        <p:txBody>
          <a:bodyPr>
            <a:normAutofit lnSpcReduction="10000"/>
          </a:bodyPr>
          <a:lstStyle/>
          <a:p>
            <a:r>
              <a:rPr lang="en-US" dirty="0"/>
              <a:t>Boolean data types are used in conditional testing. Hold only two values, either TRUE(1) or FALSE(0). </a:t>
            </a:r>
          </a:p>
          <a:p>
            <a:r>
              <a:rPr lang="en-US" dirty="0"/>
              <a:t>Successful events will return true and unsuccessful events return false. NULL type values are also treated as false in Boolean. </a:t>
            </a:r>
          </a:p>
          <a:p>
            <a:r>
              <a:rPr lang="en-US" dirty="0"/>
              <a:t>Apart from NULL, 0 is also considered false in boolean. If a string is empty then it is also considered false in boolean data type.    </a:t>
            </a:r>
          </a:p>
          <a:p>
            <a:r>
              <a:rPr lang="en-US" dirty="0"/>
              <a:t>&lt;?php</a:t>
            </a:r>
          </a:p>
          <a:p>
            <a:r>
              <a:rPr lang="en-US" dirty="0"/>
              <a:t>if(TRUE)</a:t>
            </a:r>
          </a:p>
          <a:p>
            <a:r>
              <a:rPr lang="en-US" dirty="0"/>
              <a:t>    echo "This condition is TRUE";</a:t>
            </a:r>
          </a:p>
          <a:p>
            <a:r>
              <a:rPr lang="en-US" dirty="0"/>
              <a:t>if(FALSE)</a:t>
            </a:r>
          </a:p>
          <a:p>
            <a:r>
              <a:rPr lang="en-US" dirty="0"/>
              <a:t>    echo "This condition is not TRUE";</a:t>
            </a:r>
          </a:p>
          <a:p>
            <a:r>
              <a:rPr lang="en-US" dirty="0"/>
              <a:t>?&gt;</a:t>
            </a:r>
          </a:p>
          <a:p>
            <a:endParaRPr lang="en-US" dirty="0"/>
          </a:p>
        </p:txBody>
      </p:sp>
    </p:spTree>
    <p:extLst>
      <p:ext uri="{BB962C8B-B14F-4D97-AF65-F5344CB8AC3E}">
        <p14:creationId xmlns:p14="http://schemas.microsoft.com/office/powerpoint/2010/main" val="4973030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F10F8-E222-4937-A8D3-81303367A599}"/>
              </a:ext>
            </a:extLst>
          </p:cNvPr>
          <p:cNvSpPr>
            <a:spLocks noGrp="1"/>
          </p:cNvSpPr>
          <p:nvPr>
            <p:ph type="title"/>
          </p:nvPr>
        </p:nvSpPr>
        <p:spPr>
          <a:xfrm>
            <a:off x="822960" y="286605"/>
            <a:ext cx="7543800" cy="780196"/>
          </a:xfrm>
        </p:spPr>
        <p:txBody>
          <a:bodyPr/>
          <a:lstStyle/>
          <a:p>
            <a:r>
              <a:rPr lang="en-US" b="1" dirty="0"/>
              <a:t>Array</a:t>
            </a:r>
          </a:p>
        </p:txBody>
      </p:sp>
      <p:sp>
        <p:nvSpPr>
          <p:cNvPr id="3" name="Content Placeholder 2">
            <a:extLst>
              <a:ext uri="{FF2B5EF4-FFF2-40B4-BE49-F238E27FC236}">
                <a16:creationId xmlns:a16="http://schemas.microsoft.com/office/drawing/2014/main" id="{3C6F0994-A9DB-48A6-BF0C-457CEA83F546}"/>
              </a:ext>
            </a:extLst>
          </p:cNvPr>
          <p:cNvSpPr>
            <a:spLocks noGrp="1"/>
          </p:cNvSpPr>
          <p:nvPr>
            <p:ph idx="1"/>
          </p:nvPr>
        </p:nvSpPr>
        <p:spPr>
          <a:xfrm>
            <a:off x="822959" y="1219200"/>
            <a:ext cx="7543801" cy="4649894"/>
          </a:xfrm>
        </p:spPr>
        <p:txBody>
          <a:bodyPr>
            <a:normAutofit/>
          </a:bodyPr>
          <a:lstStyle/>
          <a:p>
            <a:r>
              <a:rPr lang="en-US" dirty="0"/>
              <a:t>Array is a compound data type that can store multiple values of the same data type. Below is an example of an array of integers. It combines a series of data that are related together.</a:t>
            </a:r>
          </a:p>
          <a:p>
            <a:r>
              <a:rPr lang="en-US" dirty="0"/>
              <a:t>Indexed array:</a:t>
            </a:r>
          </a:p>
          <a:p>
            <a:r>
              <a:rPr lang="en-US" dirty="0"/>
              <a:t>&lt;?php</a:t>
            </a:r>
          </a:p>
          <a:p>
            <a:r>
              <a:rPr lang="en-US" dirty="0"/>
              <a:t>$numarr = array( 10, 20 , 30);</a:t>
            </a:r>
          </a:p>
          <a:p>
            <a:r>
              <a:rPr lang="en-US" dirty="0"/>
              <a:t>echo "First Element: $numarr[0]\n";</a:t>
            </a:r>
          </a:p>
          <a:p>
            <a:r>
              <a:rPr lang="en-US" dirty="0"/>
              <a:t>echo "Second Element: $numarr[1]\n";</a:t>
            </a:r>
          </a:p>
          <a:p>
            <a:r>
              <a:rPr lang="en-US" dirty="0"/>
              <a:t>echo "Third Element: $numarr“s;</a:t>
            </a:r>
          </a:p>
          <a:p>
            <a:r>
              <a:rPr lang="en-US" dirty="0"/>
              <a:t>?&gt;</a:t>
            </a:r>
          </a:p>
        </p:txBody>
      </p:sp>
    </p:spTree>
    <p:extLst>
      <p:ext uri="{BB962C8B-B14F-4D97-AF65-F5344CB8AC3E}">
        <p14:creationId xmlns:p14="http://schemas.microsoft.com/office/powerpoint/2010/main" val="28537458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F10F8-E222-4937-A8D3-81303367A599}"/>
              </a:ext>
            </a:extLst>
          </p:cNvPr>
          <p:cNvSpPr>
            <a:spLocks noGrp="1"/>
          </p:cNvSpPr>
          <p:nvPr>
            <p:ph type="title"/>
          </p:nvPr>
        </p:nvSpPr>
        <p:spPr>
          <a:xfrm>
            <a:off x="822960" y="286605"/>
            <a:ext cx="7543800" cy="780196"/>
          </a:xfrm>
        </p:spPr>
        <p:txBody>
          <a:bodyPr/>
          <a:lstStyle/>
          <a:p>
            <a:r>
              <a:rPr lang="en-US" b="1" dirty="0"/>
              <a:t>Array</a:t>
            </a:r>
          </a:p>
        </p:txBody>
      </p:sp>
      <p:sp>
        <p:nvSpPr>
          <p:cNvPr id="3" name="Content Placeholder 2">
            <a:extLst>
              <a:ext uri="{FF2B5EF4-FFF2-40B4-BE49-F238E27FC236}">
                <a16:creationId xmlns:a16="http://schemas.microsoft.com/office/drawing/2014/main" id="{3C6F0994-A9DB-48A6-BF0C-457CEA83F546}"/>
              </a:ext>
            </a:extLst>
          </p:cNvPr>
          <p:cNvSpPr>
            <a:spLocks noGrp="1"/>
          </p:cNvSpPr>
          <p:nvPr>
            <p:ph idx="1"/>
          </p:nvPr>
        </p:nvSpPr>
        <p:spPr>
          <a:xfrm>
            <a:off x="822959" y="1219200"/>
            <a:ext cx="7543801" cy="5029200"/>
          </a:xfrm>
        </p:spPr>
        <p:txBody>
          <a:bodyPr>
            <a:normAutofit fontScale="85000" lnSpcReduction="20000"/>
          </a:bodyPr>
          <a:lstStyle/>
          <a:p>
            <a:r>
              <a:rPr lang="en-US" b="1" dirty="0"/>
              <a:t>Associative array:</a:t>
            </a:r>
            <a:r>
              <a:rPr lang="en-US" dirty="0"/>
              <a:t> Associative arrays are arrays that use named keys that you assign to them.</a:t>
            </a:r>
          </a:p>
          <a:p>
            <a:r>
              <a:rPr lang="en-US" dirty="0"/>
              <a:t>&lt;?php</a:t>
            </a:r>
          </a:p>
          <a:p>
            <a:r>
              <a:rPr lang="en-US" dirty="0"/>
              <a:t>$age = array(“Aman”=&gt;”21”,”Binita”=&gt;”19”,”Chandan”=&gt;”21”);</a:t>
            </a:r>
          </a:p>
          <a:p>
            <a:r>
              <a:rPr lang="en-US" dirty="0"/>
              <a:t>// or you can declase array element by  $age[‘Binita’]=“19”;</a:t>
            </a:r>
          </a:p>
          <a:p>
            <a:r>
              <a:rPr lang="en-US" dirty="0"/>
              <a:t>echo “Binita is “. $age[‘Binita’]. ”years old”</a:t>
            </a:r>
          </a:p>
          <a:p>
            <a:r>
              <a:rPr lang="en-US" dirty="0"/>
              <a:t>?&gt;</a:t>
            </a:r>
          </a:p>
          <a:p>
            <a:r>
              <a:rPr lang="en-US" dirty="0"/>
              <a:t>Foreach loop for displaying elements of associative array with key and value.</a:t>
            </a:r>
          </a:p>
          <a:p>
            <a:r>
              <a:rPr lang="en-US" dirty="0"/>
              <a:t>foreach($age as $x=&gt;$x_value)</a:t>
            </a:r>
          </a:p>
          <a:p>
            <a:r>
              <a:rPr lang="en-US" dirty="0"/>
              <a:t>{</a:t>
            </a:r>
          </a:p>
          <a:p>
            <a:r>
              <a:rPr lang="en-US" dirty="0"/>
              <a:t>echo “Key=”.$x.”, Value=“.$x_value;</a:t>
            </a:r>
          </a:p>
          <a:p>
            <a:r>
              <a:rPr lang="en-US" dirty="0"/>
              <a:t>echo “&lt;br&gt;”</a:t>
            </a:r>
          </a:p>
          <a:p>
            <a:r>
              <a:rPr lang="en-US" dirty="0"/>
              <a:t>}</a:t>
            </a:r>
          </a:p>
          <a:p>
            <a:r>
              <a:rPr lang="en-US" dirty="0"/>
              <a:t>?&gt;</a:t>
            </a:r>
          </a:p>
        </p:txBody>
      </p:sp>
    </p:spTree>
    <p:extLst>
      <p:ext uri="{BB962C8B-B14F-4D97-AF65-F5344CB8AC3E}">
        <p14:creationId xmlns:p14="http://schemas.microsoft.com/office/powerpoint/2010/main" val="38469912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F10F8-E222-4937-A8D3-81303367A599}"/>
              </a:ext>
            </a:extLst>
          </p:cNvPr>
          <p:cNvSpPr>
            <a:spLocks noGrp="1"/>
          </p:cNvSpPr>
          <p:nvPr>
            <p:ph type="title"/>
          </p:nvPr>
        </p:nvSpPr>
        <p:spPr>
          <a:xfrm>
            <a:off x="822960" y="286605"/>
            <a:ext cx="7543800" cy="780196"/>
          </a:xfrm>
        </p:spPr>
        <p:txBody>
          <a:bodyPr/>
          <a:lstStyle/>
          <a:p>
            <a:r>
              <a:rPr lang="en-US" b="1" dirty="0"/>
              <a:t>Object</a:t>
            </a:r>
          </a:p>
        </p:txBody>
      </p:sp>
      <p:sp>
        <p:nvSpPr>
          <p:cNvPr id="3" name="Content Placeholder 2">
            <a:extLst>
              <a:ext uri="{FF2B5EF4-FFF2-40B4-BE49-F238E27FC236}">
                <a16:creationId xmlns:a16="http://schemas.microsoft.com/office/drawing/2014/main" id="{3C6F0994-A9DB-48A6-BF0C-457CEA83F546}"/>
              </a:ext>
            </a:extLst>
          </p:cNvPr>
          <p:cNvSpPr>
            <a:spLocks noGrp="1"/>
          </p:cNvSpPr>
          <p:nvPr>
            <p:ph idx="1"/>
          </p:nvPr>
        </p:nvSpPr>
        <p:spPr>
          <a:xfrm>
            <a:off x="381000" y="1219200"/>
            <a:ext cx="8610599" cy="5029200"/>
          </a:xfrm>
        </p:spPr>
        <p:txBody>
          <a:bodyPr>
            <a:normAutofit fontScale="77500" lnSpcReduction="20000"/>
          </a:bodyPr>
          <a:lstStyle/>
          <a:p>
            <a:r>
              <a:rPr lang="en-US" dirty="0"/>
              <a:t>Objects</a:t>
            </a:r>
          </a:p>
          <a:p>
            <a:r>
              <a:rPr lang="en-US" dirty="0"/>
              <a:t>Objects are defined as instances of user-defined classes that can hold both values and functions and information for data processing specific to the class. This is an advanced topic and will be discussed in detail in further articles. When the objects are created, they inherit all the properties and behaviors from the class, having different values for all the properties.</a:t>
            </a:r>
          </a:p>
          <a:p>
            <a:r>
              <a:rPr lang="en-US" dirty="0"/>
              <a:t>Objects are explicitly declared and created from the new keyword.</a:t>
            </a:r>
          </a:p>
          <a:p>
            <a:pPr>
              <a:spcBef>
                <a:spcPts val="0"/>
              </a:spcBef>
            </a:pPr>
            <a:r>
              <a:rPr lang="en-US" dirty="0"/>
              <a:t>&lt;?php</a:t>
            </a:r>
          </a:p>
          <a:p>
            <a:pPr>
              <a:spcBef>
                <a:spcPts val="0"/>
              </a:spcBef>
            </a:pPr>
            <a:r>
              <a:rPr lang="en-US" dirty="0"/>
              <a:t>class Fruit {</a:t>
            </a:r>
          </a:p>
          <a:p>
            <a:pPr>
              <a:spcBef>
                <a:spcPts val="0"/>
              </a:spcBef>
            </a:pPr>
            <a:r>
              <a:rPr lang="en-US" dirty="0"/>
              <a:t>  // Properties</a:t>
            </a:r>
          </a:p>
          <a:p>
            <a:pPr>
              <a:spcBef>
                <a:spcPts val="0"/>
              </a:spcBef>
            </a:pPr>
            <a:r>
              <a:rPr lang="en-US" dirty="0"/>
              <a:t>  public $name;</a:t>
            </a:r>
          </a:p>
          <a:p>
            <a:pPr>
              <a:spcBef>
                <a:spcPts val="0"/>
              </a:spcBef>
            </a:pPr>
            <a:r>
              <a:rPr lang="en-US" dirty="0"/>
              <a:t>  public $color;</a:t>
            </a:r>
          </a:p>
          <a:p>
            <a:pPr>
              <a:spcBef>
                <a:spcPts val="0"/>
              </a:spcBef>
            </a:pPr>
            <a:r>
              <a:rPr lang="en-US" dirty="0"/>
              <a:t>  // Methods</a:t>
            </a:r>
          </a:p>
          <a:p>
            <a:pPr>
              <a:spcBef>
                <a:spcPts val="0"/>
              </a:spcBef>
            </a:pPr>
            <a:r>
              <a:rPr lang="en-US" dirty="0"/>
              <a:t>  function set_name($name) {</a:t>
            </a:r>
          </a:p>
          <a:p>
            <a:pPr>
              <a:spcBef>
                <a:spcPts val="0"/>
              </a:spcBef>
            </a:pPr>
            <a:r>
              <a:rPr lang="en-US" dirty="0"/>
              <a:t>    $this-&gt;name = $name;</a:t>
            </a:r>
          </a:p>
          <a:p>
            <a:pPr>
              <a:spcBef>
                <a:spcPts val="0"/>
              </a:spcBef>
            </a:pPr>
            <a:r>
              <a:rPr lang="en-US" dirty="0"/>
              <a:t>  }</a:t>
            </a:r>
          </a:p>
          <a:p>
            <a:pPr>
              <a:spcBef>
                <a:spcPts val="0"/>
              </a:spcBef>
            </a:pPr>
            <a:r>
              <a:rPr lang="en-US" dirty="0"/>
              <a:t>  function get_name() {</a:t>
            </a:r>
          </a:p>
          <a:p>
            <a:pPr>
              <a:spcBef>
                <a:spcPts val="0"/>
              </a:spcBef>
            </a:pPr>
            <a:r>
              <a:rPr lang="en-US" dirty="0"/>
              <a:t>    return $this-&gt;name;</a:t>
            </a:r>
          </a:p>
          <a:p>
            <a:pPr>
              <a:spcBef>
                <a:spcPts val="0"/>
              </a:spcBef>
            </a:pPr>
            <a:r>
              <a:rPr lang="en-US" dirty="0"/>
              <a:t>  }</a:t>
            </a:r>
          </a:p>
          <a:p>
            <a:pPr>
              <a:spcBef>
                <a:spcPts val="0"/>
              </a:spcBef>
            </a:pPr>
            <a:r>
              <a:rPr lang="en-US" dirty="0"/>
              <a:t>}</a:t>
            </a:r>
          </a:p>
          <a:p>
            <a:pPr>
              <a:spcBef>
                <a:spcPts val="0"/>
              </a:spcBef>
            </a:pPr>
            <a:r>
              <a:rPr lang="en-US" dirty="0"/>
              <a:t>$obj=new Fruit();</a:t>
            </a:r>
          </a:p>
          <a:p>
            <a:pPr>
              <a:spcBef>
                <a:spcPts val="0"/>
              </a:spcBef>
            </a:pPr>
            <a:r>
              <a:rPr lang="en-US" dirty="0"/>
              <a:t>$obj.set_name(‘Grape’);</a:t>
            </a:r>
          </a:p>
          <a:p>
            <a:pPr>
              <a:spcBef>
                <a:spcPts val="0"/>
              </a:spcBef>
            </a:pPr>
            <a:r>
              <a:rPr lang="en-US" dirty="0"/>
              <a:t>$obj.get_name();</a:t>
            </a:r>
          </a:p>
          <a:p>
            <a:pPr>
              <a:spcBef>
                <a:spcPts val="0"/>
              </a:spcBef>
            </a:pPr>
            <a:r>
              <a:rPr lang="en-US" dirty="0"/>
              <a:t>?&gt;</a:t>
            </a:r>
          </a:p>
        </p:txBody>
      </p:sp>
    </p:spTree>
    <p:extLst>
      <p:ext uri="{BB962C8B-B14F-4D97-AF65-F5344CB8AC3E}">
        <p14:creationId xmlns:p14="http://schemas.microsoft.com/office/powerpoint/2010/main" val="35259147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b="1" dirty="0">
                <a:effectLst/>
              </a:rPr>
              <a:t>Variables</a:t>
            </a:r>
            <a:endParaRPr lang="en-US" b="1" dirty="0"/>
          </a:p>
        </p:txBody>
      </p:sp>
      <p:sp>
        <p:nvSpPr>
          <p:cNvPr id="2" name="Content Placeholder 1"/>
          <p:cNvSpPr>
            <a:spLocks noGrp="1"/>
          </p:cNvSpPr>
          <p:nvPr>
            <p:ph idx="1"/>
          </p:nvPr>
        </p:nvSpPr>
        <p:spPr/>
        <p:txBody>
          <a:bodyPr/>
          <a:lstStyle/>
          <a:p>
            <a:pPr marL="109728" indent="0">
              <a:buNone/>
            </a:pPr>
            <a:r>
              <a:rPr lang="en-US" dirty="0"/>
              <a:t>Variables hold the data that your program manipulates while it runs, such as information about a user that you've loaded from a database or entries that have been typed into an HTML form. In PHP, variables are denoted by $ followed by the variable's name. To assign a value to a variable, use an equals sign (=). This is known as the assignment operator.</a:t>
            </a:r>
          </a:p>
          <a:p>
            <a:endParaRPr lang="en-US" dirty="0"/>
          </a:p>
        </p:txBody>
      </p:sp>
    </p:spTree>
    <p:extLst>
      <p:ext uri="{BB962C8B-B14F-4D97-AF65-F5344CB8AC3E}">
        <p14:creationId xmlns:p14="http://schemas.microsoft.com/office/powerpoint/2010/main" val="42491321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Examples:</a:t>
            </a:r>
          </a:p>
        </p:txBody>
      </p:sp>
      <p:sp>
        <p:nvSpPr>
          <p:cNvPr id="2" name="Content Placeholder 1"/>
          <p:cNvSpPr>
            <a:spLocks noGrp="1"/>
          </p:cNvSpPr>
          <p:nvPr>
            <p:ph idx="1"/>
          </p:nvPr>
        </p:nvSpPr>
        <p:spPr/>
        <p:txBody>
          <a:bodyPr/>
          <a:lstStyle/>
          <a:p>
            <a:pPr marL="109728" indent="0">
              <a:buNone/>
            </a:pPr>
            <a:r>
              <a:rPr lang="en-US" dirty="0"/>
              <a:t>$plates = 5;</a:t>
            </a:r>
          </a:p>
          <a:p>
            <a:pPr marL="109728" indent="0">
              <a:buNone/>
            </a:pPr>
            <a:r>
              <a:rPr lang="en-US" dirty="0"/>
              <a:t>$dinner = 'Beef Chow-Fun';</a:t>
            </a:r>
          </a:p>
          <a:p>
            <a:pPr marL="109728" indent="0">
              <a:buNone/>
            </a:pPr>
            <a:r>
              <a:rPr lang="en-US" dirty="0"/>
              <a:t>$cost_of_dinner = 8.95;</a:t>
            </a:r>
          </a:p>
          <a:p>
            <a:pPr marL="109728" indent="0">
              <a:buNone/>
            </a:pPr>
            <a:r>
              <a:rPr lang="en-US" dirty="0"/>
              <a:t>$cost_of_lunch = $cost_of_dinner;</a:t>
            </a:r>
          </a:p>
          <a:p>
            <a:endParaRPr lang="en-US" dirty="0"/>
          </a:p>
        </p:txBody>
      </p:sp>
    </p:spTree>
    <p:extLst>
      <p:ext uri="{BB962C8B-B14F-4D97-AF65-F5344CB8AC3E}">
        <p14:creationId xmlns:p14="http://schemas.microsoft.com/office/powerpoint/2010/main" val="41480733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Acceptable variable names</a:t>
            </a:r>
            <a:endParaRPr lang="en-US" dirty="0"/>
          </a:p>
        </p:txBody>
      </p:sp>
      <p:sp>
        <p:nvSpPr>
          <p:cNvPr id="2" name="Content Placeholder 1"/>
          <p:cNvSpPr>
            <a:spLocks noGrp="1"/>
          </p:cNvSpPr>
          <p:nvPr>
            <p:ph idx="1"/>
          </p:nvPr>
        </p:nvSpPr>
        <p:spPr/>
        <p:txBody>
          <a:bodyPr/>
          <a:lstStyle/>
          <a:p>
            <a:pPr marL="109728" indent="0">
              <a:buNone/>
            </a:pPr>
            <a:r>
              <a:rPr lang="en-US" dirty="0"/>
              <a:t>$size</a:t>
            </a:r>
          </a:p>
          <a:p>
            <a:pPr marL="109728" indent="0">
              <a:buNone/>
            </a:pPr>
            <a:r>
              <a:rPr lang="en-US" dirty="0"/>
              <a:t>$drinkSize</a:t>
            </a:r>
          </a:p>
          <a:p>
            <a:pPr marL="109728" indent="0">
              <a:buNone/>
            </a:pPr>
            <a:r>
              <a:rPr lang="en-US" dirty="0"/>
              <a:t>$my_drink_size</a:t>
            </a:r>
          </a:p>
          <a:p>
            <a:pPr marL="109728" indent="0">
              <a:buNone/>
            </a:pPr>
            <a:r>
              <a:rPr lang="en-US" dirty="0"/>
              <a:t>$_drinks</a:t>
            </a:r>
          </a:p>
          <a:p>
            <a:pPr marL="109728" indent="0">
              <a:buNone/>
            </a:pPr>
            <a:r>
              <a:rPr lang="en-US" dirty="0"/>
              <a:t>$drink4you2</a:t>
            </a:r>
          </a:p>
          <a:p>
            <a:endParaRPr lang="en-US" dirty="0"/>
          </a:p>
        </p:txBody>
      </p:sp>
    </p:spTree>
    <p:extLst>
      <p:ext uri="{BB962C8B-B14F-4D97-AF65-F5344CB8AC3E}">
        <p14:creationId xmlns:p14="http://schemas.microsoft.com/office/powerpoint/2010/main" val="21351080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Unacceptable variable names</a:t>
            </a:r>
            <a:endParaRPr lang="en-US" dirty="0"/>
          </a:p>
        </p:txBody>
      </p:sp>
      <p:sp>
        <p:nvSpPr>
          <p:cNvPr id="2" name="Content Placeholder 1"/>
          <p:cNvSpPr>
            <a:spLocks noGrp="1"/>
          </p:cNvSpPr>
          <p:nvPr>
            <p:ph idx="1"/>
          </p:nvPr>
        </p:nvSpPr>
        <p:spPr/>
        <p:txBody>
          <a:bodyPr>
            <a:normAutofit/>
          </a:bodyPr>
          <a:lstStyle/>
          <a:p>
            <a:pPr marL="109728" indent="0">
              <a:buNone/>
            </a:pPr>
            <a:r>
              <a:rPr lang="en-US" b="1" u="sng" dirty="0"/>
              <a:t>Variable name</a:t>
            </a:r>
            <a:r>
              <a:rPr lang="en-US" dirty="0"/>
              <a:t>				</a:t>
            </a:r>
            <a:r>
              <a:rPr lang="en-US" b="1" u="sng" dirty="0"/>
              <a:t>Flaw</a:t>
            </a:r>
          </a:p>
          <a:p>
            <a:pPr marL="109728" indent="0">
              <a:buNone/>
            </a:pPr>
            <a:r>
              <a:rPr lang="en-US" dirty="0"/>
              <a:t>$2hot4u 					Begins with a number</a:t>
            </a:r>
          </a:p>
          <a:p>
            <a:pPr marL="109728" indent="0">
              <a:buNone/>
            </a:pPr>
            <a:r>
              <a:rPr lang="en-US" dirty="0"/>
              <a:t>$drink-size 				Unacceptable character: -</a:t>
            </a:r>
          </a:p>
          <a:p>
            <a:pPr marL="109728" indent="0">
              <a:buNone/>
            </a:pPr>
            <a:r>
              <a:rPr lang="en-US" dirty="0">
                <a:solidFill>
                  <a:schemeClr val="tx1">
                    <a:lumMod val="95000"/>
                    <a:lumOff val="5000"/>
                  </a:schemeClr>
                </a:solidFill>
                <a:hlinkClick r:id="rId2"/>
              </a:rPr>
              <a:t>$drinkmaster@example.com</a:t>
            </a:r>
            <a:r>
              <a:rPr lang="en-US" dirty="0">
                <a:solidFill>
                  <a:schemeClr val="tx1">
                    <a:lumMod val="95000"/>
                    <a:lumOff val="5000"/>
                  </a:schemeClr>
                </a:solidFill>
              </a:rPr>
              <a:t> </a:t>
            </a:r>
            <a:r>
              <a:rPr lang="en-US" dirty="0"/>
              <a:t>	Unacceptable characters: @ and .</a:t>
            </a:r>
          </a:p>
          <a:p>
            <a:pPr marL="109728" indent="0">
              <a:buNone/>
            </a:pPr>
            <a:r>
              <a:rPr lang="en-US" dirty="0"/>
              <a:t>$drink!lots 				Unacceptable character: !</a:t>
            </a:r>
          </a:p>
          <a:p>
            <a:pPr marL="109728" indent="0">
              <a:buNone/>
            </a:pPr>
            <a:r>
              <a:rPr lang="en-US" dirty="0"/>
              <a:t>$drink+dinner 				Unacceptable character: +</a:t>
            </a:r>
          </a:p>
          <a:p>
            <a:endParaRPr lang="en-US" dirty="0"/>
          </a:p>
        </p:txBody>
      </p:sp>
    </p:spTree>
    <p:extLst>
      <p:ext uri="{BB962C8B-B14F-4D97-AF65-F5344CB8AC3E}">
        <p14:creationId xmlns:p14="http://schemas.microsoft.com/office/powerpoint/2010/main" val="20393801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Variable names</a:t>
            </a:r>
          </a:p>
        </p:txBody>
      </p:sp>
      <p:sp>
        <p:nvSpPr>
          <p:cNvPr id="2" name="Content Placeholder 1"/>
          <p:cNvSpPr>
            <a:spLocks noGrp="1"/>
          </p:cNvSpPr>
          <p:nvPr>
            <p:ph idx="1"/>
          </p:nvPr>
        </p:nvSpPr>
        <p:spPr/>
        <p:txBody>
          <a:bodyPr/>
          <a:lstStyle/>
          <a:p>
            <a:pPr marL="109728" indent="0">
              <a:buNone/>
            </a:pPr>
            <a:r>
              <a:rPr lang="en-US" dirty="0"/>
              <a:t>Variable names are case-sensitive. This means that variables named $dinner, $Dinner, and $DINNER are separate and distinct.</a:t>
            </a:r>
          </a:p>
          <a:p>
            <a:endParaRPr lang="en-US" dirty="0"/>
          </a:p>
        </p:txBody>
      </p:sp>
    </p:spTree>
    <p:extLst>
      <p:ext uri="{BB962C8B-B14F-4D97-AF65-F5344CB8AC3E}">
        <p14:creationId xmlns:p14="http://schemas.microsoft.com/office/powerpoint/2010/main" val="10330735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Operating on Variables</a:t>
            </a:r>
            <a:endParaRPr lang="en-US" dirty="0"/>
          </a:p>
        </p:txBody>
      </p:sp>
      <p:sp>
        <p:nvSpPr>
          <p:cNvPr id="2" name="Content Placeholder 1"/>
          <p:cNvSpPr>
            <a:spLocks noGrp="1"/>
          </p:cNvSpPr>
          <p:nvPr>
            <p:ph idx="1"/>
          </p:nvPr>
        </p:nvSpPr>
        <p:spPr/>
        <p:txBody>
          <a:bodyPr/>
          <a:lstStyle/>
          <a:p>
            <a:pPr marL="109728" indent="0">
              <a:buNone/>
            </a:pPr>
            <a:r>
              <a:rPr lang="en-US" dirty="0"/>
              <a:t>Arithmetic and string operators work on variables containing numbers or strings just like they do on literal numbers or strings.</a:t>
            </a:r>
          </a:p>
          <a:p>
            <a:endParaRPr lang="en-US" dirty="0"/>
          </a:p>
        </p:txBody>
      </p:sp>
    </p:spTree>
    <p:extLst>
      <p:ext uri="{BB962C8B-B14F-4D97-AF65-F5344CB8AC3E}">
        <p14:creationId xmlns:p14="http://schemas.microsoft.com/office/powerpoint/2010/main" val="20348092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Example: Operating on variables</a:t>
            </a:r>
            <a:endParaRPr lang="en-US" dirty="0"/>
          </a:p>
        </p:txBody>
      </p:sp>
      <p:sp>
        <p:nvSpPr>
          <p:cNvPr id="2" name="Content Placeholder 1"/>
          <p:cNvSpPr>
            <a:spLocks noGrp="1"/>
          </p:cNvSpPr>
          <p:nvPr>
            <p:ph idx="1"/>
          </p:nvPr>
        </p:nvSpPr>
        <p:spPr/>
        <p:txBody>
          <a:bodyPr>
            <a:normAutofit fontScale="47500" lnSpcReduction="20000"/>
          </a:bodyPr>
          <a:lstStyle/>
          <a:p>
            <a:pPr marL="109728" indent="0">
              <a:buNone/>
            </a:pPr>
            <a:r>
              <a:rPr lang="en-US" dirty="0"/>
              <a:t>&lt;?php</a:t>
            </a:r>
          </a:p>
          <a:p>
            <a:pPr marL="109728" indent="0">
              <a:buNone/>
            </a:pPr>
            <a:r>
              <a:rPr lang="en-US" dirty="0"/>
              <a:t>$price = 3.95;</a:t>
            </a:r>
          </a:p>
          <a:p>
            <a:pPr marL="109728" indent="0">
              <a:buNone/>
            </a:pPr>
            <a:r>
              <a:rPr lang="en-US" dirty="0"/>
              <a:t>$tax_rate = 0.08;</a:t>
            </a:r>
          </a:p>
          <a:p>
            <a:pPr marL="109728" indent="0">
              <a:buNone/>
            </a:pPr>
            <a:r>
              <a:rPr lang="en-US" dirty="0"/>
              <a:t>$tax_amount = $price * $tax_rate;</a:t>
            </a:r>
          </a:p>
          <a:p>
            <a:pPr marL="109728" indent="0">
              <a:buNone/>
            </a:pPr>
            <a:r>
              <a:rPr lang="en-US" dirty="0"/>
              <a:t>$total_cost = $price + $tax_amount;</a:t>
            </a:r>
          </a:p>
          <a:p>
            <a:pPr marL="109728" indent="0">
              <a:buNone/>
            </a:pPr>
            <a:r>
              <a:rPr lang="en-US" dirty="0"/>
              <a:t>$username = 'james';</a:t>
            </a:r>
          </a:p>
          <a:p>
            <a:pPr marL="109728" indent="0">
              <a:buNone/>
            </a:pPr>
            <a:r>
              <a:rPr lang="en-US" dirty="0"/>
              <a:t>$domain = '@example.com';</a:t>
            </a:r>
          </a:p>
          <a:p>
            <a:pPr marL="109728" indent="0">
              <a:buNone/>
            </a:pPr>
            <a:r>
              <a:rPr lang="en-US" dirty="0"/>
              <a:t>$email_address = $username . $domain;</a:t>
            </a:r>
          </a:p>
          <a:p>
            <a:pPr marL="109728" indent="0">
              <a:buNone/>
            </a:pPr>
            <a:r>
              <a:rPr lang="en-US" dirty="0"/>
              <a:t>print 'The tax is ' . $tax_amount;</a:t>
            </a:r>
          </a:p>
          <a:p>
            <a:pPr marL="109728" indent="0">
              <a:buNone/>
            </a:pPr>
            <a:r>
              <a:rPr lang="en-US" dirty="0"/>
              <a:t>print "\n"; // this prints a linebreak</a:t>
            </a:r>
          </a:p>
          <a:p>
            <a:pPr marL="109728" indent="0">
              <a:buNone/>
            </a:pPr>
            <a:r>
              <a:rPr lang="en-US" dirty="0"/>
              <a:t>print 'The total cost is ' .$total_cost;</a:t>
            </a:r>
          </a:p>
          <a:p>
            <a:pPr marL="109728" indent="0">
              <a:buNone/>
            </a:pPr>
            <a:r>
              <a:rPr lang="en-US" dirty="0"/>
              <a:t>print "\n"; // this prints a linebreak</a:t>
            </a:r>
          </a:p>
          <a:p>
            <a:pPr marL="109728" indent="0">
              <a:buNone/>
            </a:pPr>
            <a:r>
              <a:rPr lang="en-US" dirty="0"/>
              <a:t>print $email_address;</a:t>
            </a:r>
          </a:p>
          <a:p>
            <a:r>
              <a:rPr lang="en-US" dirty="0"/>
              <a:t>?&gt;</a:t>
            </a:r>
          </a:p>
          <a:p>
            <a:endParaRPr lang="en-US" dirty="0"/>
          </a:p>
        </p:txBody>
      </p:sp>
    </p:spTree>
    <p:extLst>
      <p:ext uri="{BB962C8B-B14F-4D97-AF65-F5344CB8AC3E}">
        <p14:creationId xmlns:p14="http://schemas.microsoft.com/office/powerpoint/2010/main" val="813316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Output:</a:t>
            </a:r>
            <a:endParaRPr lang="en-US" dirty="0"/>
          </a:p>
        </p:txBody>
      </p:sp>
      <p:sp>
        <p:nvSpPr>
          <p:cNvPr id="2" name="Content Placeholder 1"/>
          <p:cNvSpPr>
            <a:spLocks noGrp="1"/>
          </p:cNvSpPr>
          <p:nvPr>
            <p:ph idx="1"/>
          </p:nvPr>
        </p:nvSpPr>
        <p:spPr/>
        <p:txBody>
          <a:bodyPr/>
          <a:lstStyle/>
          <a:p>
            <a:pPr marL="109728" indent="0">
              <a:buNone/>
            </a:pPr>
            <a:r>
              <a:rPr lang="en-US" dirty="0"/>
              <a:t>The tax is 0.316</a:t>
            </a:r>
          </a:p>
          <a:p>
            <a:pPr marL="109728" indent="0">
              <a:buNone/>
            </a:pPr>
            <a:r>
              <a:rPr lang="en-US" dirty="0"/>
              <a:t>The total cost is 4.266</a:t>
            </a:r>
          </a:p>
          <a:p>
            <a:pPr marL="109728" indent="0">
              <a:buNone/>
            </a:pPr>
            <a:r>
              <a:rPr lang="en-US" u="sng" dirty="0">
                <a:hlinkClick r:id="rId2"/>
              </a:rPr>
              <a:t>james@example.com</a:t>
            </a:r>
            <a:endParaRPr lang="en-US" dirty="0"/>
          </a:p>
          <a:p>
            <a:endParaRPr lang="en-US" dirty="0"/>
          </a:p>
        </p:txBody>
      </p:sp>
    </p:spTree>
    <p:extLst>
      <p:ext uri="{BB962C8B-B14F-4D97-AF65-F5344CB8AC3E}">
        <p14:creationId xmlns:p14="http://schemas.microsoft.com/office/powerpoint/2010/main" val="33310945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Example: Combined assignment and addition</a:t>
            </a:r>
            <a:endParaRPr lang="en-US" dirty="0"/>
          </a:p>
        </p:txBody>
      </p:sp>
      <p:sp>
        <p:nvSpPr>
          <p:cNvPr id="2" name="Content Placeholder 1"/>
          <p:cNvSpPr>
            <a:spLocks noGrp="1"/>
          </p:cNvSpPr>
          <p:nvPr>
            <p:ph idx="1"/>
          </p:nvPr>
        </p:nvSpPr>
        <p:spPr/>
        <p:txBody>
          <a:bodyPr>
            <a:normAutofit/>
          </a:bodyPr>
          <a:lstStyle/>
          <a:p>
            <a:pPr marL="109728" indent="0">
              <a:buNone/>
            </a:pPr>
            <a:r>
              <a:rPr lang="en-US" dirty="0"/>
              <a:t>// Add 3 the regular way</a:t>
            </a:r>
          </a:p>
          <a:p>
            <a:pPr marL="109728" indent="0">
              <a:buNone/>
            </a:pPr>
            <a:r>
              <a:rPr lang="en-US" dirty="0"/>
              <a:t>$price = $price + 3;</a:t>
            </a:r>
          </a:p>
          <a:p>
            <a:pPr marL="109728" indent="0">
              <a:buNone/>
            </a:pPr>
            <a:r>
              <a:rPr lang="en-US" dirty="0"/>
              <a:t>// Add 3 with the combined operator</a:t>
            </a:r>
          </a:p>
          <a:p>
            <a:pPr marL="109728" indent="0">
              <a:buNone/>
            </a:pPr>
            <a:r>
              <a:rPr lang="en-US" dirty="0"/>
              <a:t>$price += 3;</a:t>
            </a:r>
          </a:p>
          <a:p>
            <a:pPr marL="109728" indent="0">
              <a:buNone/>
            </a:pPr>
            <a:endParaRPr lang="en-US" dirty="0"/>
          </a:p>
          <a:p>
            <a:pPr marL="109728" indent="0">
              <a:buNone/>
            </a:pPr>
            <a:r>
              <a:rPr lang="en-US" b="1" dirty="0"/>
              <a:t>Output:</a:t>
            </a:r>
          </a:p>
          <a:p>
            <a:pPr marL="109728" indent="0">
              <a:buNone/>
            </a:pPr>
            <a:r>
              <a:rPr lang="en-US" b="1" dirty="0"/>
              <a:t>?</a:t>
            </a:r>
          </a:p>
        </p:txBody>
      </p:sp>
    </p:spTree>
    <p:extLst>
      <p:ext uri="{BB962C8B-B14F-4D97-AF65-F5344CB8AC3E}">
        <p14:creationId xmlns:p14="http://schemas.microsoft.com/office/powerpoint/2010/main" val="21189254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Example: Combined assignment and concatenation</a:t>
            </a:r>
            <a:endParaRPr lang="en-US" dirty="0"/>
          </a:p>
        </p:txBody>
      </p:sp>
      <p:sp>
        <p:nvSpPr>
          <p:cNvPr id="2" name="Content Placeholder 1"/>
          <p:cNvSpPr>
            <a:spLocks noGrp="1"/>
          </p:cNvSpPr>
          <p:nvPr>
            <p:ph idx="1"/>
          </p:nvPr>
        </p:nvSpPr>
        <p:spPr/>
        <p:txBody>
          <a:bodyPr>
            <a:normAutofit/>
          </a:bodyPr>
          <a:lstStyle/>
          <a:p>
            <a:pPr marL="109728" indent="0">
              <a:buNone/>
            </a:pPr>
            <a:r>
              <a:rPr lang="en-US" dirty="0"/>
              <a:t>$username = 'james';</a:t>
            </a:r>
          </a:p>
          <a:p>
            <a:pPr marL="109728" indent="0">
              <a:buNone/>
            </a:pPr>
            <a:r>
              <a:rPr lang="en-US" dirty="0"/>
              <a:t>$domain = '@example.com';</a:t>
            </a:r>
          </a:p>
          <a:p>
            <a:pPr marL="109728" indent="0">
              <a:buNone/>
            </a:pPr>
            <a:r>
              <a:rPr lang="en-US" dirty="0"/>
              <a:t>// Concatenate $domain to the end of $username the regular way</a:t>
            </a:r>
          </a:p>
          <a:p>
            <a:pPr marL="109728" indent="0">
              <a:buNone/>
            </a:pPr>
            <a:r>
              <a:rPr lang="en-US" dirty="0"/>
              <a:t>$username = $username . $domain;</a:t>
            </a:r>
          </a:p>
          <a:p>
            <a:pPr marL="109728" indent="0">
              <a:buNone/>
            </a:pPr>
            <a:r>
              <a:rPr lang="en-US" dirty="0"/>
              <a:t>// Concatenate with the combined operator</a:t>
            </a:r>
          </a:p>
          <a:p>
            <a:pPr marL="109728" indent="0">
              <a:buNone/>
            </a:pPr>
            <a:r>
              <a:rPr lang="en-US" dirty="0"/>
              <a:t>$username .= $domain;</a:t>
            </a:r>
          </a:p>
          <a:p>
            <a:pPr marL="109728" indent="0">
              <a:buNone/>
            </a:pPr>
            <a:endParaRPr lang="en-US" dirty="0"/>
          </a:p>
          <a:p>
            <a:pPr marL="109728" indent="0">
              <a:buNone/>
            </a:pPr>
            <a:r>
              <a:rPr lang="en-US" b="1" u="sng" dirty="0"/>
              <a:t>Output:</a:t>
            </a:r>
          </a:p>
          <a:p>
            <a:pPr marL="109728" indent="0">
              <a:buNone/>
            </a:pPr>
            <a:r>
              <a:rPr lang="en-US" b="1" dirty="0"/>
              <a:t>?</a:t>
            </a:r>
          </a:p>
          <a:p>
            <a:pPr marL="109728" indent="0">
              <a:buNone/>
            </a:pPr>
            <a:endParaRPr lang="en-US" dirty="0"/>
          </a:p>
        </p:txBody>
      </p:sp>
    </p:spTree>
    <p:extLst>
      <p:ext uri="{BB962C8B-B14F-4D97-AF65-F5344CB8AC3E}">
        <p14:creationId xmlns:p14="http://schemas.microsoft.com/office/powerpoint/2010/main" val="29358482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Example: Incrementing and decrementing</a:t>
            </a:r>
            <a:endParaRPr lang="en-US" dirty="0"/>
          </a:p>
        </p:txBody>
      </p:sp>
      <p:sp>
        <p:nvSpPr>
          <p:cNvPr id="2" name="Content Placeholder 1"/>
          <p:cNvSpPr>
            <a:spLocks noGrp="1"/>
          </p:cNvSpPr>
          <p:nvPr>
            <p:ph idx="1"/>
          </p:nvPr>
        </p:nvSpPr>
        <p:spPr/>
        <p:txBody>
          <a:bodyPr>
            <a:normAutofit fontScale="85000" lnSpcReduction="20000"/>
          </a:bodyPr>
          <a:lstStyle/>
          <a:p>
            <a:pPr marL="109728" indent="0">
              <a:buNone/>
            </a:pPr>
            <a:r>
              <a:rPr lang="en-US" dirty="0"/>
              <a:t>// Add one to $birthday</a:t>
            </a:r>
          </a:p>
          <a:p>
            <a:pPr marL="109728" indent="0">
              <a:buNone/>
            </a:pPr>
            <a:r>
              <a:rPr lang="en-US" dirty="0"/>
              <a:t>$birthday = $birthday + 1;</a:t>
            </a:r>
          </a:p>
          <a:p>
            <a:pPr marL="109728" indent="0">
              <a:buNone/>
            </a:pPr>
            <a:r>
              <a:rPr lang="en-US" dirty="0"/>
              <a:t>// Add another one to $birthday</a:t>
            </a:r>
          </a:p>
          <a:p>
            <a:pPr marL="109728" indent="0">
              <a:buNone/>
            </a:pPr>
            <a:r>
              <a:rPr lang="en-US" dirty="0"/>
              <a:t>++$birthday;</a:t>
            </a:r>
          </a:p>
          <a:p>
            <a:pPr marL="109728" indent="0">
              <a:buNone/>
            </a:pPr>
            <a:r>
              <a:rPr lang="en-US" dirty="0"/>
              <a:t>// Subtract 1 from $years_left</a:t>
            </a:r>
          </a:p>
          <a:p>
            <a:pPr marL="109728" indent="0">
              <a:buNone/>
            </a:pPr>
            <a:r>
              <a:rPr lang="en-US" dirty="0"/>
              <a:t>$years_left = $years_left - 1;</a:t>
            </a:r>
          </a:p>
          <a:p>
            <a:pPr marL="109728" indent="0">
              <a:buNone/>
            </a:pPr>
            <a:r>
              <a:rPr lang="en-US" dirty="0"/>
              <a:t>// Subtract another 1 from $years_left</a:t>
            </a:r>
          </a:p>
          <a:p>
            <a:pPr marL="109728" indent="0">
              <a:buNone/>
            </a:pPr>
            <a:r>
              <a:rPr lang="en-US" dirty="0"/>
              <a:t>--$years_left;</a:t>
            </a:r>
          </a:p>
          <a:p>
            <a:pPr marL="109728" indent="0">
              <a:buNone/>
            </a:pPr>
            <a:endParaRPr lang="en-US" dirty="0"/>
          </a:p>
          <a:p>
            <a:pPr marL="109728" indent="0">
              <a:buNone/>
            </a:pPr>
            <a:r>
              <a:rPr lang="en-US" b="1" u="sng" dirty="0"/>
              <a:t>Output:</a:t>
            </a:r>
          </a:p>
          <a:p>
            <a:pPr marL="109728" indent="0">
              <a:buNone/>
            </a:pPr>
            <a:r>
              <a:rPr lang="en-US" b="1" dirty="0"/>
              <a:t>?</a:t>
            </a:r>
          </a:p>
          <a:p>
            <a:pPr marL="109728" indent="0">
              <a:buNone/>
            </a:pPr>
            <a:endParaRPr lang="en-US" dirty="0"/>
          </a:p>
          <a:p>
            <a:endParaRPr lang="en-US" dirty="0"/>
          </a:p>
        </p:txBody>
      </p:sp>
    </p:spTree>
    <p:extLst>
      <p:ext uri="{BB962C8B-B14F-4D97-AF65-F5344CB8AC3E}">
        <p14:creationId xmlns:p14="http://schemas.microsoft.com/office/powerpoint/2010/main" val="28018857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Putting Variables Inside Strings</a:t>
            </a:r>
            <a:endParaRPr lang="en-US" dirty="0"/>
          </a:p>
        </p:txBody>
      </p:sp>
      <p:sp>
        <p:nvSpPr>
          <p:cNvPr id="2" name="Content Placeholder 1"/>
          <p:cNvSpPr>
            <a:spLocks noGrp="1"/>
          </p:cNvSpPr>
          <p:nvPr>
            <p:ph idx="1"/>
          </p:nvPr>
        </p:nvSpPr>
        <p:spPr/>
        <p:txBody>
          <a:bodyPr>
            <a:normAutofit/>
          </a:bodyPr>
          <a:lstStyle/>
          <a:p>
            <a:pPr marL="109728" indent="0">
              <a:buNone/>
            </a:pPr>
            <a:r>
              <a:rPr lang="en-US" b="1" dirty="0"/>
              <a:t>Example: Variable interpolation</a:t>
            </a:r>
            <a:endParaRPr lang="en-US" dirty="0"/>
          </a:p>
          <a:p>
            <a:pPr marL="109728" indent="0">
              <a:buNone/>
            </a:pPr>
            <a:r>
              <a:rPr lang="en-US" dirty="0"/>
              <a:t> </a:t>
            </a:r>
          </a:p>
          <a:p>
            <a:pPr marL="109728" indent="0">
              <a:buNone/>
            </a:pPr>
            <a:r>
              <a:rPr lang="en-US" dirty="0"/>
              <a:t>&lt;?php</a:t>
            </a:r>
          </a:p>
          <a:p>
            <a:pPr marL="109728" indent="0">
              <a:buNone/>
            </a:pPr>
            <a:r>
              <a:rPr lang="en-US" dirty="0"/>
              <a:t>$email = 'jacob@example.com';</a:t>
            </a:r>
          </a:p>
          <a:p>
            <a:pPr marL="109728" indent="0">
              <a:buNone/>
            </a:pPr>
            <a:r>
              <a:rPr lang="en-US" dirty="0"/>
              <a:t>print "Send replies to: $email";</a:t>
            </a:r>
          </a:p>
          <a:p>
            <a:pPr marL="109728" indent="0">
              <a:buNone/>
            </a:pPr>
            <a:r>
              <a:rPr lang="en-US" dirty="0"/>
              <a:t>?&gt;</a:t>
            </a:r>
          </a:p>
          <a:p>
            <a:pPr marL="109728" indent="0">
              <a:buNone/>
            </a:pPr>
            <a:r>
              <a:rPr lang="en-US" dirty="0"/>
              <a:t> </a:t>
            </a:r>
          </a:p>
          <a:p>
            <a:pPr marL="109728" indent="0">
              <a:buNone/>
            </a:pPr>
            <a:r>
              <a:rPr lang="en-US" b="1" dirty="0"/>
              <a:t>Output:</a:t>
            </a:r>
            <a:endParaRPr lang="en-US" dirty="0"/>
          </a:p>
          <a:p>
            <a:pPr marL="109728" indent="0">
              <a:buNone/>
            </a:pPr>
            <a:r>
              <a:rPr lang="en-US" dirty="0"/>
              <a:t>Send replies to: </a:t>
            </a:r>
            <a:r>
              <a:rPr lang="en-US" u="sng" dirty="0">
                <a:hlinkClick r:id="rId2"/>
              </a:rPr>
              <a:t>jacob@example.com</a:t>
            </a:r>
            <a:endParaRPr lang="en-US" dirty="0"/>
          </a:p>
          <a:p>
            <a:endParaRPr lang="en-US" dirty="0"/>
          </a:p>
        </p:txBody>
      </p:sp>
    </p:spTree>
    <p:extLst>
      <p:ext uri="{BB962C8B-B14F-4D97-AF65-F5344CB8AC3E}">
        <p14:creationId xmlns:p14="http://schemas.microsoft.com/office/powerpoint/2010/main" val="20384817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define() function</a:t>
            </a:r>
          </a:p>
        </p:txBody>
      </p:sp>
      <p:sp>
        <p:nvSpPr>
          <p:cNvPr id="2" name="Content Placeholder 1"/>
          <p:cNvSpPr>
            <a:spLocks noGrp="1"/>
          </p:cNvSpPr>
          <p:nvPr>
            <p:ph idx="1"/>
          </p:nvPr>
        </p:nvSpPr>
        <p:spPr/>
        <p:txBody>
          <a:bodyPr/>
          <a:lstStyle/>
          <a:p>
            <a:pPr marL="109728" indent="0">
              <a:buNone/>
            </a:pPr>
            <a:r>
              <a:rPr lang="en-US" dirty="0"/>
              <a:t>To define a constant, we have to use define() function and to retrieve the value of a constant we have to simply specify it's name.</a:t>
            </a:r>
          </a:p>
          <a:p>
            <a:endParaRPr lang="en-US" dirty="0"/>
          </a:p>
        </p:txBody>
      </p:sp>
    </p:spTree>
    <p:extLst>
      <p:ext uri="{BB962C8B-B14F-4D97-AF65-F5344CB8AC3E}">
        <p14:creationId xmlns:p14="http://schemas.microsoft.com/office/powerpoint/2010/main" val="41197688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Arithmetic Operators</a:t>
            </a:r>
            <a:endParaRPr lang="en-US" dirty="0"/>
          </a:p>
        </p:txBody>
      </p:sp>
      <p:sp>
        <p:nvSpPr>
          <p:cNvPr id="2" name="Content Placeholder 1"/>
          <p:cNvSpPr>
            <a:spLocks noGrp="1"/>
          </p:cNvSpPr>
          <p:nvPr>
            <p:ph idx="1"/>
          </p:nvPr>
        </p:nvSpPr>
        <p:spPr/>
        <p:txBody>
          <a:bodyPr/>
          <a:lstStyle/>
          <a:p>
            <a:pPr marL="109728" indent="0">
              <a:buNone/>
            </a:pPr>
            <a:r>
              <a:rPr lang="en-US" dirty="0"/>
              <a:t>Some basic operations between numbers are shown in example below.</a:t>
            </a:r>
          </a:p>
          <a:p>
            <a:endParaRPr lang="en-US" dirty="0"/>
          </a:p>
        </p:txBody>
      </p:sp>
    </p:spTree>
    <p:extLst>
      <p:ext uri="{BB962C8B-B14F-4D97-AF65-F5344CB8AC3E}">
        <p14:creationId xmlns:p14="http://schemas.microsoft.com/office/powerpoint/2010/main" val="35416579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381000"/>
            <a:ext cx="8229600" cy="1143000"/>
          </a:xfrm>
        </p:spPr>
        <p:txBody>
          <a:bodyPr>
            <a:normAutofit/>
          </a:bodyPr>
          <a:lstStyle/>
          <a:p>
            <a:r>
              <a:rPr lang="en-US" dirty="0">
                <a:effectLst/>
              </a:rPr>
              <a:t>Example: Math operations</a:t>
            </a:r>
            <a:endParaRPr lang="en-US" dirty="0"/>
          </a:p>
        </p:txBody>
      </p:sp>
      <p:sp>
        <p:nvSpPr>
          <p:cNvPr id="2" name="Content Placeholder 1"/>
          <p:cNvSpPr>
            <a:spLocks noGrp="1"/>
          </p:cNvSpPr>
          <p:nvPr>
            <p:ph idx="1"/>
          </p:nvPr>
        </p:nvSpPr>
        <p:spPr/>
        <p:txBody>
          <a:bodyPr>
            <a:normAutofit fontScale="70000" lnSpcReduction="20000"/>
          </a:bodyPr>
          <a:lstStyle/>
          <a:p>
            <a:pPr marL="109728" indent="0">
              <a:buNone/>
            </a:pPr>
            <a:r>
              <a:rPr lang="en-US" dirty="0"/>
              <a:t>print 2 + 2;</a:t>
            </a:r>
          </a:p>
          <a:p>
            <a:pPr marL="109728" indent="0">
              <a:buNone/>
            </a:pPr>
            <a:r>
              <a:rPr lang="en-US" dirty="0"/>
              <a:t>print 17 - 3.5;</a:t>
            </a:r>
          </a:p>
          <a:p>
            <a:pPr marL="109728" indent="0">
              <a:buNone/>
            </a:pPr>
            <a:r>
              <a:rPr lang="en-US" dirty="0"/>
              <a:t>print 10 / 3;</a:t>
            </a:r>
          </a:p>
          <a:p>
            <a:pPr marL="109728" indent="0">
              <a:buNone/>
            </a:pPr>
            <a:r>
              <a:rPr lang="en-US" dirty="0"/>
              <a:t>print 6 * 9;</a:t>
            </a:r>
          </a:p>
          <a:p>
            <a:pPr marL="109728" indent="0">
              <a:buNone/>
            </a:pPr>
            <a:r>
              <a:rPr lang="en-US" dirty="0"/>
              <a:t>print 17 % 3;</a:t>
            </a:r>
          </a:p>
          <a:p>
            <a:pPr marL="109728" indent="0">
              <a:buNone/>
            </a:pPr>
            <a:r>
              <a:rPr lang="en-US" dirty="0"/>
              <a:t> </a:t>
            </a:r>
          </a:p>
          <a:p>
            <a:pPr marL="109728" indent="0">
              <a:buNone/>
            </a:pPr>
            <a:r>
              <a:rPr lang="en-US" b="1" dirty="0"/>
              <a:t>Output:</a:t>
            </a:r>
            <a:endParaRPr lang="en-US" dirty="0"/>
          </a:p>
          <a:p>
            <a:pPr marL="109728" indent="0">
              <a:buNone/>
            </a:pPr>
            <a:r>
              <a:rPr lang="en-US" dirty="0"/>
              <a:t>4</a:t>
            </a:r>
          </a:p>
          <a:p>
            <a:pPr marL="109728" indent="0">
              <a:buNone/>
            </a:pPr>
            <a:r>
              <a:rPr lang="en-US" dirty="0"/>
              <a:t>13.5</a:t>
            </a:r>
          </a:p>
          <a:p>
            <a:pPr marL="109728" indent="0">
              <a:buNone/>
            </a:pPr>
            <a:r>
              <a:rPr lang="en-US" dirty="0"/>
              <a:t>3.3333333333333</a:t>
            </a:r>
          </a:p>
          <a:p>
            <a:pPr marL="109728" indent="0">
              <a:buNone/>
            </a:pPr>
            <a:r>
              <a:rPr lang="en-US" dirty="0"/>
              <a:t>54</a:t>
            </a:r>
          </a:p>
          <a:p>
            <a:pPr marL="109728" indent="0">
              <a:buNone/>
            </a:pPr>
            <a:r>
              <a:rPr lang="en-US" dirty="0"/>
              <a:t>2</a:t>
            </a:r>
          </a:p>
          <a:p>
            <a:endParaRPr lang="en-US" dirty="0"/>
          </a:p>
        </p:txBody>
      </p:sp>
    </p:spTree>
    <p:extLst>
      <p:ext uri="{BB962C8B-B14F-4D97-AF65-F5344CB8AC3E}">
        <p14:creationId xmlns:p14="http://schemas.microsoft.com/office/powerpoint/2010/main" val="11910819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Operator:</a:t>
            </a:r>
            <a:endParaRPr lang="en-US" dirty="0"/>
          </a:p>
        </p:txBody>
      </p:sp>
      <p:sp>
        <p:nvSpPr>
          <p:cNvPr id="2" name="Content Placeholder 1"/>
          <p:cNvSpPr>
            <a:spLocks noGrp="1"/>
          </p:cNvSpPr>
          <p:nvPr>
            <p:ph idx="1"/>
          </p:nvPr>
        </p:nvSpPr>
        <p:spPr/>
        <p:txBody>
          <a:bodyPr/>
          <a:lstStyle/>
          <a:p>
            <a:pPr lvl="0"/>
            <a:r>
              <a:rPr lang="en-US" dirty="0"/>
              <a:t>Arithmetic Operator</a:t>
            </a:r>
          </a:p>
          <a:p>
            <a:pPr lvl="0"/>
            <a:r>
              <a:rPr lang="en-US" dirty="0"/>
              <a:t>Comparison Operator</a:t>
            </a:r>
          </a:p>
          <a:p>
            <a:pPr lvl="0"/>
            <a:r>
              <a:rPr lang="en-US" dirty="0"/>
              <a:t>Logical or Relational Operator</a:t>
            </a:r>
          </a:p>
          <a:p>
            <a:pPr lvl="0"/>
            <a:r>
              <a:rPr lang="en-US" dirty="0"/>
              <a:t>Assignment Operator</a:t>
            </a:r>
          </a:p>
          <a:p>
            <a:pPr lvl="0"/>
            <a:r>
              <a:rPr lang="en-US" dirty="0"/>
              <a:t>Conditional or ternary Operator</a:t>
            </a:r>
          </a:p>
          <a:p>
            <a:endParaRPr lang="en-US" dirty="0"/>
          </a:p>
        </p:txBody>
      </p:sp>
    </p:spTree>
    <p:extLst>
      <p:ext uri="{BB962C8B-B14F-4D97-AF65-F5344CB8AC3E}">
        <p14:creationId xmlns:p14="http://schemas.microsoft.com/office/powerpoint/2010/main" val="28794283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Arithmetic Operator</a:t>
            </a:r>
            <a:endParaRPr lang="en-US" dirty="0"/>
          </a:p>
        </p:txBody>
      </p:sp>
      <p:sp>
        <p:nvSpPr>
          <p:cNvPr id="2" name="Content Placeholder 1"/>
          <p:cNvSpPr>
            <a:spLocks noGrp="1"/>
          </p:cNvSpPr>
          <p:nvPr>
            <p:ph idx="1"/>
          </p:nvPr>
        </p:nvSpPr>
        <p:spPr/>
        <p:txBody>
          <a:bodyPr/>
          <a:lstStyle/>
          <a:p>
            <a:pPr marL="109728" indent="0">
              <a:buNone/>
            </a:pPr>
            <a:r>
              <a:rPr lang="en-US" dirty="0"/>
              <a:t>Assume variable A holds 10 and variable B holds 20 then.</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182519746"/>
              </p:ext>
            </p:extLst>
          </p:nvPr>
        </p:nvGraphicFramePr>
        <p:xfrm>
          <a:off x="1219200" y="2538286"/>
          <a:ext cx="6705600" cy="3329114"/>
        </p:xfrm>
        <a:graphic>
          <a:graphicData uri="http://schemas.openxmlformats.org/drawingml/2006/table">
            <a:tbl>
              <a:tblPr firstRow="1" firstCol="1" bandRow="1">
                <a:tableStyleId>{5C22544A-7EE6-4342-B048-85BDC9FD1C3A}</a:tableStyleId>
              </a:tblPr>
              <a:tblGrid>
                <a:gridCol w="894920">
                  <a:extLst>
                    <a:ext uri="{9D8B030D-6E8A-4147-A177-3AD203B41FA5}">
                      <a16:colId xmlns:a16="http://schemas.microsoft.com/office/drawing/2014/main" val="20000"/>
                    </a:ext>
                  </a:extLst>
                </a:gridCol>
                <a:gridCol w="3655308">
                  <a:extLst>
                    <a:ext uri="{9D8B030D-6E8A-4147-A177-3AD203B41FA5}">
                      <a16:colId xmlns:a16="http://schemas.microsoft.com/office/drawing/2014/main" val="20001"/>
                    </a:ext>
                  </a:extLst>
                </a:gridCol>
                <a:gridCol w="2155372">
                  <a:extLst>
                    <a:ext uri="{9D8B030D-6E8A-4147-A177-3AD203B41FA5}">
                      <a16:colId xmlns:a16="http://schemas.microsoft.com/office/drawing/2014/main" val="20002"/>
                    </a:ext>
                  </a:extLst>
                </a:gridCol>
              </a:tblGrid>
              <a:tr h="299890">
                <a:tc>
                  <a:txBody>
                    <a:bodyPr/>
                    <a:lstStyle/>
                    <a:p>
                      <a:pPr marL="0" marR="0">
                        <a:lnSpc>
                          <a:spcPct val="115000"/>
                        </a:lnSpc>
                        <a:spcBef>
                          <a:spcPts val="0"/>
                        </a:spcBef>
                        <a:spcAft>
                          <a:spcPts val="0"/>
                        </a:spcAft>
                      </a:pPr>
                      <a:r>
                        <a:rPr lang="en-US" sz="1200" dirty="0">
                          <a:effectLst/>
                        </a:rPr>
                        <a:t>Operator</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Description</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Example</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0"/>
                  </a:ext>
                </a:extLst>
              </a:tr>
              <a:tr h="299890">
                <a:tc>
                  <a:txBody>
                    <a:bodyPr/>
                    <a:lstStyle/>
                    <a:p>
                      <a:pPr marL="0" marR="0">
                        <a:lnSpc>
                          <a:spcPct val="115000"/>
                        </a:lnSpc>
                        <a:spcBef>
                          <a:spcPts val="0"/>
                        </a:spcBef>
                        <a:spcAft>
                          <a:spcPts val="0"/>
                        </a:spcAft>
                      </a:pPr>
                      <a:r>
                        <a:rPr lang="en-US" sz="1200" dirty="0">
                          <a:effectLst/>
                        </a:rPr>
                        <a:t>+</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Adds two operands from the first</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A+B will give 30</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1"/>
                  </a:ext>
                </a:extLst>
              </a:tr>
              <a:tr h="299890">
                <a:tc>
                  <a:txBody>
                    <a:bodyPr/>
                    <a:lstStyle/>
                    <a:p>
                      <a:pPr marL="0" marR="0">
                        <a:lnSpc>
                          <a:spcPct val="115000"/>
                        </a:lnSpc>
                        <a:spcBef>
                          <a:spcPts val="0"/>
                        </a:spcBef>
                        <a:spcAft>
                          <a:spcPts val="0"/>
                        </a:spcAft>
                      </a:pPr>
                      <a:r>
                        <a:rPr lang="en-US" sz="1200" dirty="0">
                          <a:effectLst/>
                        </a:rPr>
                        <a:t>-</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Subtract second operand from the first</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A-B will give -10</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2"/>
                  </a:ext>
                </a:extLst>
              </a:tr>
              <a:tr h="299890">
                <a:tc>
                  <a:txBody>
                    <a:bodyPr/>
                    <a:lstStyle/>
                    <a:p>
                      <a:pPr marL="0" marR="0">
                        <a:lnSpc>
                          <a:spcPct val="115000"/>
                        </a:lnSpc>
                        <a:spcBef>
                          <a:spcPts val="0"/>
                        </a:spcBef>
                        <a:spcAft>
                          <a:spcPts val="0"/>
                        </a:spcAft>
                      </a:pPr>
                      <a:r>
                        <a:rPr lang="en-US" sz="1200" dirty="0">
                          <a:effectLst/>
                        </a:rPr>
                        <a:t>*</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Multiply both operands</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A*B will give 200</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3"/>
                  </a:ext>
                </a:extLst>
              </a:tr>
              <a:tr h="299890">
                <a:tc>
                  <a:txBody>
                    <a:bodyPr/>
                    <a:lstStyle/>
                    <a:p>
                      <a:pPr marL="0" marR="0">
                        <a:lnSpc>
                          <a:spcPct val="115000"/>
                        </a:lnSpc>
                        <a:spcBef>
                          <a:spcPts val="0"/>
                        </a:spcBef>
                        <a:spcAft>
                          <a:spcPts val="0"/>
                        </a:spcAft>
                      </a:pPr>
                      <a:r>
                        <a:rPr lang="en-US" sz="1200" dirty="0">
                          <a:effectLst/>
                        </a:rPr>
                        <a:t>/</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Divide the numerator by denominator</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B/A will give 2</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4"/>
                  </a:ext>
                </a:extLst>
              </a:tr>
              <a:tr h="609888">
                <a:tc>
                  <a:txBody>
                    <a:bodyPr/>
                    <a:lstStyle/>
                    <a:p>
                      <a:pPr marL="0" marR="0">
                        <a:lnSpc>
                          <a:spcPct val="115000"/>
                        </a:lnSpc>
                        <a:spcBef>
                          <a:spcPts val="0"/>
                        </a:spcBef>
                        <a:spcAft>
                          <a:spcPts val="0"/>
                        </a:spcAft>
                      </a:pPr>
                      <a:r>
                        <a:rPr lang="en-US" sz="1200" dirty="0">
                          <a:effectLst/>
                        </a:rPr>
                        <a:t>%</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Modulus operator &amp; remainder after an integer division</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B%A will give 0</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5"/>
                  </a:ext>
                </a:extLst>
              </a:tr>
              <a:tr h="609888">
                <a:tc>
                  <a:txBody>
                    <a:bodyPr/>
                    <a:lstStyle/>
                    <a:p>
                      <a:pPr marL="0" marR="0">
                        <a:lnSpc>
                          <a:spcPct val="115000"/>
                        </a:lnSpc>
                        <a:spcBef>
                          <a:spcPts val="0"/>
                        </a:spcBef>
                        <a:spcAft>
                          <a:spcPts val="0"/>
                        </a:spcAft>
                      </a:pPr>
                      <a:r>
                        <a:rPr lang="en-US" sz="1200" dirty="0">
                          <a:effectLst/>
                        </a:rPr>
                        <a:t>++</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Increment operator increases integer value by one</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A++ will give 11</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6"/>
                  </a:ext>
                </a:extLst>
              </a:tr>
              <a:tr h="609888">
                <a:tc>
                  <a:txBody>
                    <a:bodyPr/>
                    <a:lstStyle/>
                    <a:p>
                      <a:pPr marL="0" marR="0">
                        <a:lnSpc>
                          <a:spcPct val="115000"/>
                        </a:lnSpc>
                        <a:spcBef>
                          <a:spcPts val="0"/>
                        </a:spcBef>
                        <a:spcAft>
                          <a:spcPts val="0"/>
                        </a:spcAft>
                      </a:pPr>
                      <a:r>
                        <a:rPr lang="en-US" sz="1200" dirty="0">
                          <a:effectLst/>
                        </a:rPr>
                        <a:t>--</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Decrement operator decreases integer value by one</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A—will give 9</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7458938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Comparison Operator</a:t>
            </a:r>
            <a:endParaRPr lang="en-US" dirty="0"/>
          </a:p>
        </p:txBody>
      </p:sp>
      <p:sp>
        <p:nvSpPr>
          <p:cNvPr id="2" name="Content Placeholder 1"/>
          <p:cNvSpPr>
            <a:spLocks noGrp="1"/>
          </p:cNvSpPr>
          <p:nvPr>
            <p:ph idx="1"/>
          </p:nvPr>
        </p:nvSpPr>
        <p:spPr/>
        <p:txBody>
          <a:bodyPr/>
          <a:lstStyle/>
          <a:p>
            <a:pPr marL="109728" indent="0">
              <a:buNone/>
            </a:pPr>
            <a:r>
              <a:rPr lang="en-US" dirty="0"/>
              <a:t>Assume variable A holds 10 and variable B holds 20 then.</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875148468"/>
              </p:ext>
            </p:extLst>
          </p:nvPr>
        </p:nvGraphicFramePr>
        <p:xfrm>
          <a:off x="1637347" y="2413254"/>
          <a:ext cx="5869305" cy="3489071"/>
        </p:xfrm>
        <a:graphic>
          <a:graphicData uri="http://schemas.openxmlformats.org/drawingml/2006/table">
            <a:tbl>
              <a:tblPr firstRow="1" firstCol="1" bandRow="1">
                <a:tableStyleId>{5C22544A-7EE6-4342-B048-85BDC9FD1C3A}</a:tableStyleId>
              </a:tblPr>
              <a:tblGrid>
                <a:gridCol w="81153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1857375">
                  <a:extLst>
                    <a:ext uri="{9D8B030D-6E8A-4147-A177-3AD203B41FA5}">
                      <a16:colId xmlns:a16="http://schemas.microsoft.com/office/drawing/2014/main" val="20002"/>
                    </a:ext>
                  </a:extLst>
                </a:gridCol>
              </a:tblGrid>
              <a:tr h="0">
                <a:tc>
                  <a:txBody>
                    <a:bodyPr/>
                    <a:lstStyle/>
                    <a:p>
                      <a:pPr marL="0" marR="0">
                        <a:lnSpc>
                          <a:spcPct val="115000"/>
                        </a:lnSpc>
                        <a:spcBef>
                          <a:spcPts val="0"/>
                        </a:spcBef>
                        <a:spcAft>
                          <a:spcPts val="0"/>
                        </a:spcAft>
                      </a:pPr>
                      <a:r>
                        <a:rPr lang="en-US" sz="1200" dirty="0">
                          <a:effectLst/>
                        </a:rPr>
                        <a:t>Operator</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Description</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Example</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0"/>
                  </a:ext>
                </a:extLst>
              </a:tr>
              <a:tr h="0">
                <a:tc>
                  <a:txBody>
                    <a:bodyPr/>
                    <a:lstStyle/>
                    <a:p>
                      <a:pPr marL="0" marR="0">
                        <a:lnSpc>
                          <a:spcPct val="115000"/>
                        </a:lnSpc>
                        <a:spcBef>
                          <a:spcPts val="0"/>
                        </a:spcBef>
                        <a:spcAft>
                          <a:spcPts val="0"/>
                        </a:spcAft>
                      </a:pPr>
                      <a:r>
                        <a:rPr lang="en-US" sz="1200" dirty="0">
                          <a:effectLst/>
                        </a:rPr>
                        <a:t>==</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Checks if the values of two operands are equal or not if yes then condition becomes true.</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(A==B) is not true</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1"/>
                  </a:ext>
                </a:extLst>
              </a:tr>
              <a:tr h="0">
                <a:tc>
                  <a:txBody>
                    <a:bodyPr/>
                    <a:lstStyle/>
                    <a:p>
                      <a:pPr marL="0" marR="0">
                        <a:lnSpc>
                          <a:spcPct val="115000"/>
                        </a:lnSpc>
                        <a:spcBef>
                          <a:spcPts val="0"/>
                        </a:spcBef>
                        <a:spcAft>
                          <a:spcPts val="0"/>
                        </a:spcAft>
                      </a:pPr>
                      <a:r>
                        <a:rPr lang="en-US" sz="1200" dirty="0">
                          <a:effectLst/>
                        </a:rPr>
                        <a:t>!=</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Checks if the values of two operands are equals or not, if not equal the condition becomes true.</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(A!=B) is true</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2"/>
                  </a:ext>
                </a:extLst>
              </a:tr>
              <a:tr h="0">
                <a:tc>
                  <a:txBody>
                    <a:bodyPr/>
                    <a:lstStyle/>
                    <a:p>
                      <a:pPr marL="0" marR="0">
                        <a:lnSpc>
                          <a:spcPct val="115000"/>
                        </a:lnSpc>
                        <a:spcBef>
                          <a:spcPts val="0"/>
                        </a:spcBef>
                        <a:spcAft>
                          <a:spcPts val="0"/>
                        </a:spcAft>
                      </a:pPr>
                      <a:r>
                        <a:rPr lang="en-US" sz="1200" dirty="0">
                          <a:effectLst/>
                        </a:rPr>
                        <a:t>&gt; </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Checks if the value of left operand is greater than the value of right operand, if yes then condition becomes true.</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(A&gt;B) is not true</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3"/>
                  </a:ext>
                </a:extLst>
              </a:tr>
              <a:tr h="0">
                <a:tc>
                  <a:txBody>
                    <a:bodyPr/>
                    <a:lstStyle/>
                    <a:p>
                      <a:pPr marL="0" marR="0">
                        <a:lnSpc>
                          <a:spcPct val="115000"/>
                        </a:lnSpc>
                        <a:spcBef>
                          <a:spcPts val="0"/>
                        </a:spcBef>
                        <a:spcAft>
                          <a:spcPts val="0"/>
                        </a:spcAft>
                      </a:pPr>
                      <a:r>
                        <a:rPr lang="en-US" sz="1200" dirty="0">
                          <a:effectLst/>
                        </a:rPr>
                        <a:t>&lt; </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Check if the value of left operand is less than the value of right operand, if yes then condition becomes true.</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(A&lt;B&gt; is true</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4"/>
                  </a:ext>
                </a:extLst>
              </a:tr>
              <a:tr h="0">
                <a:tc>
                  <a:txBody>
                    <a:bodyPr/>
                    <a:lstStyle/>
                    <a:p>
                      <a:pPr marL="0" marR="0">
                        <a:lnSpc>
                          <a:spcPct val="115000"/>
                        </a:lnSpc>
                        <a:spcBef>
                          <a:spcPts val="0"/>
                        </a:spcBef>
                        <a:spcAft>
                          <a:spcPts val="0"/>
                        </a:spcAft>
                      </a:pPr>
                      <a:r>
                        <a:rPr lang="en-US" sz="1200" dirty="0">
                          <a:effectLst/>
                        </a:rPr>
                        <a:t>&gt;=</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Check if the value of left operand is greater than or equal to the value of right operand, if yes then condition becomes true.</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(A&gt;=B) is not true</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5"/>
                  </a:ext>
                </a:extLst>
              </a:tr>
              <a:tr h="0">
                <a:tc>
                  <a:txBody>
                    <a:bodyPr/>
                    <a:lstStyle/>
                    <a:p>
                      <a:pPr marL="0" marR="0">
                        <a:lnSpc>
                          <a:spcPct val="115000"/>
                        </a:lnSpc>
                        <a:spcBef>
                          <a:spcPts val="0"/>
                        </a:spcBef>
                        <a:spcAft>
                          <a:spcPts val="0"/>
                        </a:spcAft>
                      </a:pPr>
                      <a:r>
                        <a:rPr lang="en-US" sz="1200" dirty="0">
                          <a:effectLst/>
                        </a:rPr>
                        <a:t>&lt;=</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Check if the value of left operand is less than or equal to the value of right operand, if yes then condition becomes true.</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(A&lt;=B) is true</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6944235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Logical Operator</a:t>
            </a:r>
            <a:endParaRPr lang="en-US" dirty="0"/>
          </a:p>
        </p:txBody>
      </p:sp>
      <p:sp>
        <p:nvSpPr>
          <p:cNvPr id="2" name="Content Placeholder 1"/>
          <p:cNvSpPr>
            <a:spLocks noGrp="1"/>
          </p:cNvSpPr>
          <p:nvPr>
            <p:ph idx="1"/>
          </p:nvPr>
        </p:nvSpPr>
        <p:spPr/>
        <p:txBody>
          <a:bodyPr/>
          <a:lstStyle/>
          <a:p>
            <a:pPr marL="109728" indent="0">
              <a:buNone/>
            </a:pPr>
            <a:r>
              <a:rPr lang="en-US" dirty="0"/>
              <a:t>Assume variable A holds 10 and variable B holds 20 then.</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691609784"/>
              </p:ext>
            </p:extLst>
          </p:nvPr>
        </p:nvGraphicFramePr>
        <p:xfrm>
          <a:off x="1637347" y="2503932"/>
          <a:ext cx="5869305" cy="2660142"/>
        </p:xfrm>
        <a:graphic>
          <a:graphicData uri="http://schemas.openxmlformats.org/drawingml/2006/table">
            <a:tbl>
              <a:tblPr firstRow="1" firstCol="1" bandRow="1">
                <a:tableStyleId>{5C22544A-7EE6-4342-B048-85BDC9FD1C3A}</a:tableStyleId>
              </a:tblPr>
              <a:tblGrid>
                <a:gridCol w="75438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1685925">
                  <a:extLst>
                    <a:ext uri="{9D8B030D-6E8A-4147-A177-3AD203B41FA5}">
                      <a16:colId xmlns:a16="http://schemas.microsoft.com/office/drawing/2014/main" val="20002"/>
                    </a:ext>
                  </a:extLst>
                </a:gridCol>
              </a:tblGrid>
              <a:tr h="0">
                <a:tc>
                  <a:txBody>
                    <a:bodyPr/>
                    <a:lstStyle/>
                    <a:p>
                      <a:pPr marL="0" marR="0">
                        <a:lnSpc>
                          <a:spcPct val="115000"/>
                        </a:lnSpc>
                        <a:spcBef>
                          <a:spcPts val="0"/>
                        </a:spcBef>
                        <a:spcAft>
                          <a:spcPts val="0"/>
                        </a:spcAft>
                      </a:pPr>
                      <a:r>
                        <a:rPr lang="en-US" sz="1200" dirty="0">
                          <a:effectLst/>
                        </a:rPr>
                        <a:t>Operator</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Description</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Example</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0"/>
                  </a:ext>
                </a:extLst>
              </a:tr>
              <a:tr h="0">
                <a:tc>
                  <a:txBody>
                    <a:bodyPr/>
                    <a:lstStyle/>
                    <a:p>
                      <a:pPr marL="0" marR="0">
                        <a:lnSpc>
                          <a:spcPct val="115000"/>
                        </a:lnSpc>
                        <a:spcBef>
                          <a:spcPts val="0"/>
                        </a:spcBef>
                        <a:spcAft>
                          <a:spcPts val="0"/>
                        </a:spcAft>
                      </a:pPr>
                      <a:r>
                        <a:rPr lang="en-US" sz="1200" dirty="0">
                          <a:effectLst/>
                        </a:rPr>
                        <a:t>AND</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It is called logical AND operator. If both the operands are true the condition becomes true.</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(A AND B) is true</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1"/>
                  </a:ext>
                </a:extLst>
              </a:tr>
              <a:tr h="0">
                <a:tc>
                  <a:txBody>
                    <a:bodyPr/>
                    <a:lstStyle/>
                    <a:p>
                      <a:pPr marL="0" marR="0">
                        <a:lnSpc>
                          <a:spcPct val="115000"/>
                        </a:lnSpc>
                        <a:spcBef>
                          <a:spcPts val="0"/>
                        </a:spcBef>
                        <a:spcAft>
                          <a:spcPts val="0"/>
                        </a:spcAft>
                      </a:pPr>
                      <a:r>
                        <a:rPr lang="en-US" sz="1200" dirty="0">
                          <a:effectLst/>
                        </a:rPr>
                        <a:t>OR</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It is called logical OR operator. If any of the two operands are non-zero then condition becomes true.</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(A OR B) is true</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2"/>
                  </a:ext>
                </a:extLst>
              </a:tr>
              <a:tr h="0">
                <a:tc>
                  <a:txBody>
                    <a:bodyPr/>
                    <a:lstStyle/>
                    <a:p>
                      <a:pPr marL="0" marR="0">
                        <a:lnSpc>
                          <a:spcPct val="115000"/>
                        </a:lnSpc>
                        <a:spcBef>
                          <a:spcPts val="0"/>
                        </a:spcBef>
                        <a:spcAft>
                          <a:spcPts val="0"/>
                        </a:spcAft>
                      </a:pPr>
                      <a:r>
                        <a:rPr lang="en-US" sz="1200" dirty="0">
                          <a:effectLst/>
                        </a:rPr>
                        <a:t>&amp;&amp;</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It is called logical AND operator. If the both the operands are non zero then the condition becomes true.</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(A &amp;&amp; B) is true</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3"/>
                  </a:ext>
                </a:extLst>
              </a:tr>
              <a:tr h="0">
                <a:tc>
                  <a:txBody>
                    <a:bodyPr/>
                    <a:lstStyle/>
                    <a:p>
                      <a:pPr marL="0" marR="0">
                        <a:lnSpc>
                          <a:spcPct val="115000"/>
                        </a:lnSpc>
                        <a:spcBef>
                          <a:spcPts val="0"/>
                        </a:spcBef>
                        <a:spcAft>
                          <a:spcPts val="0"/>
                        </a:spcAft>
                      </a:pPr>
                      <a:r>
                        <a:rPr lang="en-US" sz="1200" dirty="0">
                          <a:effectLst/>
                        </a:rPr>
                        <a:t>||</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It is called logical OR operator. If any of the two operands are non-zero then condition becomes true.</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(A || B) is true</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4"/>
                  </a:ext>
                </a:extLst>
              </a:tr>
              <a:tr h="0">
                <a:tc>
                  <a:txBody>
                    <a:bodyPr/>
                    <a:lstStyle/>
                    <a:p>
                      <a:pPr marL="0" marR="0">
                        <a:lnSpc>
                          <a:spcPct val="115000"/>
                        </a:lnSpc>
                        <a:spcBef>
                          <a:spcPts val="0"/>
                        </a:spcBef>
                        <a:spcAft>
                          <a:spcPts val="0"/>
                        </a:spcAft>
                      </a:pPr>
                      <a:r>
                        <a:rPr lang="en-US" sz="1200" dirty="0">
                          <a:effectLst/>
                        </a:rPr>
                        <a:t>!</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It is called logical NOT operator, use to reverse the logical state of its operand. If a condition is true then logical NOT operator will make false.</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!(A &amp;&amp; B) is false</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6883013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00100" y="469793"/>
            <a:ext cx="7543800" cy="822961"/>
          </a:xfrm>
        </p:spPr>
        <p:txBody>
          <a:bodyPr>
            <a:normAutofit/>
          </a:bodyPr>
          <a:lstStyle/>
          <a:p>
            <a:r>
              <a:rPr lang="en-US" dirty="0">
                <a:effectLst/>
              </a:rPr>
              <a:t>Assignment Operator</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545465144"/>
              </p:ext>
            </p:extLst>
          </p:nvPr>
        </p:nvGraphicFramePr>
        <p:xfrm>
          <a:off x="1066800" y="1296067"/>
          <a:ext cx="5867401" cy="4687289"/>
        </p:xfrm>
        <a:graphic>
          <a:graphicData uri="http://schemas.openxmlformats.org/drawingml/2006/table">
            <a:tbl>
              <a:tblPr firstRow="1" firstCol="1" bandRow="1">
                <a:tableStyleId>{5C22544A-7EE6-4342-B048-85BDC9FD1C3A}</a:tableStyleId>
              </a:tblPr>
              <a:tblGrid>
                <a:gridCol w="754135">
                  <a:extLst>
                    <a:ext uri="{9D8B030D-6E8A-4147-A177-3AD203B41FA5}">
                      <a16:colId xmlns:a16="http://schemas.microsoft.com/office/drawing/2014/main" val="20000"/>
                    </a:ext>
                  </a:extLst>
                </a:gridCol>
                <a:gridCol w="3485019">
                  <a:extLst>
                    <a:ext uri="{9D8B030D-6E8A-4147-A177-3AD203B41FA5}">
                      <a16:colId xmlns:a16="http://schemas.microsoft.com/office/drawing/2014/main" val="20001"/>
                    </a:ext>
                  </a:extLst>
                </a:gridCol>
                <a:gridCol w="1628247">
                  <a:extLst>
                    <a:ext uri="{9D8B030D-6E8A-4147-A177-3AD203B41FA5}">
                      <a16:colId xmlns:a16="http://schemas.microsoft.com/office/drawing/2014/main" val="20002"/>
                    </a:ext>
                  </a:extLst>
                </a:gridCol>
              </a:tblGrid>
              <a:tr h="466409">
                <a:tc>
                  <a:txBody>
                    <a:bodyPr/>
                    <a:lstStyle/>
                    <a:p>
                      <a:pPr marL="0" marR="0">
                        <a:lnSpc>
                          <a:spcPct val="115000"/>
                        </a:lnSpc>
                        <a:spcBef>
                          <a:spcPts val="0"/>
                        </a:spcBef>
                        <a:spcAft>
                          <a:spcPts val="0"/>
                        </a:spcAft>
                      </a:pPr>
                      <a:r>
                        <a:rPr lang="en-US" sz="1300" dirty="0">
                          <a:effectLst/>
                        </a:rPr>
                        <a:t>Operator</a:t>
                      </a:r>
                      <a:endParaRPr lang="en-US" sz="12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300" dirty="0">
                          <a:effectLst/>
                        </a:rPr>
                        <a:t>Description</a:t>
                      </a:r>
                      <a:endParaRPr lang="en-US" sz="12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300" dirty="0">
                          <a:effectLst/>
                        </a:rPr>
                        <a:t>Example</a:t>
                      </a:r>
                      <a:endParaRPr lang="en-US" sz="12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0"/>
                  </a:ext>
                </a:extLst>
              </a:tr>
              <a:tr h="703480">
                <a:tc>
                  <a:txBody>
                    <a:bodyPr/>
                    <a:lstStyle/>
                    <a:p>
                      <a:pPr marL="0" marR="0">
                        <a:lnSpc>
                          <a:spcPct val="115000"/>
                        </a:lnSpc>
                        <a:spcBef>
                          <a:spcPts val="0"/>
                        </a:spcBef>
                        <a:spcAft>
                          <a:spcPts val="0"/>
                        </a:spcAft>
                      </a:pPr>
                      <a:r>
                        <a:rPr lang="en-US" sz="1300" dirty="0">
                          <a:effectLst/>
                        </a:rPr>
                        <a:t>=</a:t>
                      </a:r>
                      <a:endParaRPr lang="en-US" sz="12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300" dirty="0">
                          <a:effectLst/>
                        </a:rPr>
                        <a:t>Simple assignment operator, assign values from right side operands to left side operands.</a:t>
                      </a:r>
                      <a:endParaRPr lang="en-US" sz="12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300" dirty="0">
                          <a:effectLst/>
                        </a:rPr>
                        <a:t>C=A+B will assign to value of A+B into C.</a:t>
                      </a:r>
                      <a:endParaRPr lang="en-US" sz="12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1"/>
                  </a:ext>
                </a:extLst>
              </a:tr>
              <a:tr h="703480">
                <a:tc>
                  <a:txBody>
                    <a:bodyPr/>
                    <a:lstStyle/>
                    <a:p>
                      <a:pPr marL="0" marR="0">
                        <a:lnSpc>
                          <a:spcPct val="115000"/>
                        </a:lnSpc>
                        <a:spcBef>
                          <a:spcPts val="0"/>
                        </a:spcBef>
                        <a:spcAft>
                          <a:spcPts val="0"/>
                        </a:spcAft>
                      </a:pPr>
                      <a:r>
                        <a:rPr lang="en-US" sz="1300" dirty="0">
                          <a:effectLst/>
                        </a:rPr>
                        <a:t>+=</a:t>
                      </a:r>
                      <a:endParaRPr lang="en-US" sz="12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300" dirty="0">
                          <a:effectLst/>
                        </a:rPr>
                        <a:t>Add and assignment operator, adds right operand to the left operand and assign the result to left operand.</a:t>
                      </a:r>
                      <a:endParaRPr lang="en-US" sz="12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300" dirty="0">
                          <a:effectLst/>
                        </a:rPr>
                        <a:t>C+=A is equivalent to C=C+A</a:t>
                      </a:r>
                      <a:endParaRPr lang="en-US" sz="12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2"/>
                  </a:ext>
                </a:extLst>
              </a:tr>
              <a:tr h="703480">
                <a:tc>
                  <a:txBody>
                    <a:bodyPr/>
                    <a:lstStyle/>
                    <a:p>
                      <a:pPr marL="0" marR="0">
                        <a:lnSpc>
                          <a:spcPct val="115000"/>
                        </a:lnSpc>
                        <a:spcBef>
                          <a:spcPts val="0"/>
                        </a:spcBef>
                        <a:spcAft>
                          <a:spcPts val="0"/>
                        </a:spcAft>
                      </a:pPr>
                      <a:r>
                        <a:rPr lang="en-US" sz="1300" dirty="0">
                          <a:effectLst/>
                        </a:rPr>
                        <a:t>-=</a:t>
                      </a:r>
                      <a:endParaRPr lang="en-US" sz="12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300" dirty="0">
                          <a:effectLst/>
                        </a:rPr>
                        <a:t>Subtract and assignment operator, subtract right operand from the left operand and assign the result to left operand</a:t>
                      </a:r>
                      <a:endParaRPr lang="en-US" sz="12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300" dirty="0">
                          <a:effectLst/>
                        </a:rPr>
                        <a:t>C-=A is equivalent to </a:t>
                      </a:r>
                      <a:endParaRPr lang="en-US" sz="1200" dirty="0">
                        <a:effectLst/>
                      </a:endParaRPr>
                    </a:p>
                    <a:p>
                      <a:pPr marL="0" marR="0">
                        <a:lnSpc>
                          <a:spcPct val="115000"/>
                        </a:lnSpc>
                        <a:spcBef>
                          <a:spcPts val="0"/>
                        </a:spcBef>
                        <a:spcAft>
                          <a:spcPts val="0"/>
                        </a:spcAft>
                      </a:pPr>
                      <a:r>
                        <a:rPr lang="en-US" sz="1300" dirty="0">
                          <a:effectLst/>
                        </a:rPr>
                        <a:t>C=C-A</a:t>
                      </a:r>
                      <a:endParaRPr lang="en-US" sz="12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3"/>
                  </a:ext>
                </a:extLst>
              </a:tr>
              <a:tr h="703480">
                <a:tc>
                  <a:txBody>
                    <a:bodyPr/>
                    <a:lstStyle/>
                    <a:p>
                      <a:pPr marL="0" marR="0">
                        <a:lnSpc>
                          <a:spcPct val="115000"/>
                        </a:lnSpc>
                        <a:spcBef>
                          <a:spcPts val="0"/>
                        </a:spcBef>
                        <a:spcAft>
                          <a:spcPts val="0"/>
                        </a:spcAft>
                      </a:pPr>
                      <a:r>
                        <a:rPr lang="en-US" sz="1300" dirty="0">
                          <a:effectLst/>
                        </a:rPr>
                        <a:t>*=</a:t>
                      </a:r>
                      <a:endParaRPr lang="en-US" sz="12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300" dirty="0">
                          <a:effectLst/>
                        </a:rPr>
                        <a:t>Multiply and assignment operator, multiply right operand from the left operand and assign the result to left operand</a:t>
                      </a:r>
                      <a:endParaRPr lang="en-US" sz="12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300" dirty="0">
                          <a:effectLst/>
                        </a:rPr>
                        <a:t>C*=A is equivalent to </a:t>
                      </a:r>
                      <a:endParaRPr lang="en-US" sz="1200" dirty="0">
                        <a:effectLst/>
                      </a:endParaRPr>
                    </a:p>
                    <a:p>
                      <a:pPr marL="0" marR="0">
                        <a:lnSpc>
                          <a:spcPct val="115000"/>
                        </a:lnSpc>
                        <a:spcBef>
                          <a:spcPts val="0"/>
                        </a:spcBef>
                        <a:spcAft>
                          <a:spcPts val="0"/>
                        </a:spcAft>
                      </a:pPr>
                      <a:r>
                        <a:rPr lang="en-US" sz="1300" dirty="0">
                          <a:effectLst/>
                        </a:rPr>
                        <a:t>C=C*A</a:t>
                      </a:r>
                      <a:endParaRPr lang="en-US" sz="12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4"/>
                  </a:ext>
                </a:extLst>
              </a:tr>
              <a:tr h="703480">
                <a:tc>
                  <a:txBody>
                    <a:bodyPr/>
                    <a:lstStyle/>
                    <a:p>
                      <a:pPr marL="0" marR="0">
                        <a:lnSpc>
                          <a:spcPct val="115000"/>
                        </a:lnSpc>
                        <a:spcBef>
                          <a:spcPts val="0"/>
                        </a:spcBef>
                        <a:spcAft>
                          <a:spcPts val="0"/>
                        </a:spcAft>
                      </a:pPr>
                      <a:r>
                        <a:rPr lang="en-US" sz="1300" dirty="0">
                          <a:effectLst/>
                        </a:rPr>
                        <a:t>/=</a:t>
                      </a:r>
                      <a:endParaRPr lang="en-US" sz="12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300" dirty="0">
                          <a:effectLst/>
                        </a:rPr>
                        <a:t>Divide and assignment operator, divide right operand from the left operand and assign the result to left operand</a:t>
                      </a:r>
                      <a:endParaRPr lang="en-US" sz="12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300" dirty="0">
                          <a:effectLst/>
                        </a:rPr>
                        <a:t>C/=A is equivalent to </a:t>
                      </a:r>
                      <a:endParaRPr lang="en-US" sz="1200" dirty="0">
                        <a:effectLst/>
                      </a:endParaRPr>
                    </a:p>
                    <a:p>
                      <a:pPr marL="0" marR="0">
                        <a:lnSpc>
                          <a:spcPct val="115000"/>
                        </a:lnSpc>
                        <a:spcBef>
                          <a:spcPts val="0"/>
                        </a:spcBef>
                        <a:spcAft>
                          <a:spcPts val="0"/>
                        </a:spcAft>
                      </a:pPr>
                      <a:r>
                        <a:rPr lang="en-US" sz="1300" dirty="0">
                          <a:effectLst/>
                        </a:rPr>
                        <a:t>C=C/A</a:t>
                      </a:r>
                      <a:endParaRPr lang="en-US" sz="12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5"/>
                  </a:ext>
                </a:extLst>
              </a:tr>
              <a:tr h="703480">
                <a:tc>
                  <a:txBody>
                    <a:bodyPr/>
                    <a:lstStyle/>
                    <a:p>
                      <a:pPr marL="0" marR="0">
                        <a:lnSpc>
                          <a:spcPct val="115000"/>
                        </a:lnSpc>
                        <a:spcBef>
                          <a:spcPts val="0"/>
                        </a:spcBef>
                        <a:spcAft>
                          <a:spcPts val="0"/>
                        </a:spcAft>
                      </a:pPr>
                      <a:r>
                        <a:rPr lang="en-US" sz="1300" dirty="0">
                          <a:effectLst/>
                        </a:rPr>
                        <a:t>%=</a:t>
                      </a:r>
                      <a:endParaRPr lang="en-US" sz="12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300" dirty="0">
                          <a:effectLst/>
                        </a:rPr>
                        <a:t>Modulus and assignment operator, modulus right operand from the left operand and assign the result to left operand</a:t>
                      </a:r>
                      <a:endParaRPr lang="en-US" sz="12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300" dirty="0">
                          <a:effectLst/>
                        </a:rPr>
                        <a:t>C%=A is equivalent to </a:t>
                      </a:r>
                      <a:endParaRPr lang="en-US" sz="1200" dirty="0">
                        <a:effectLst/>
                      </a:endParaRPr>
                    </a:p>
                    <a:p>
                      <a:pPr marL="0" marR="0">
                        <a:lnSpc>
                          <a:spcPct val="115000"/>
                        </a:lnSpc>
                        <a:spcBef>
                          <a:spcPts val="0"/>
                        </a:spcBef>
                        <a:spcAft>
                          <a:spcPts val="0"/>
                        </a:spcAft>
                      </a:pPr>
                      <a:r>
                        <a:rPr lang="en-US" sz="1300" dirty="0">
                          <a:effectLst/>
                        </a:rPr>
                        <a:t>C=C%A</a:t>
                      </a:r>
                      <a:endParaRPr lang="en-US" sz="12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4783590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9DCDF-335B-4564-A271-373F4ED80915}"/>
              </a:ext>
            </a:extLst>
          </p:cNvPr>
          <p:cNvSpPr>
            <a:spLocks noGrp="1"/>
          </p:cNvSpPr>
          <p:nvPr>
            <p:ph type="title"/>
          </p:nvPr>
        </p:nvSpPr>
        <p:spPr/>
        <p:txBody>
          <a:bodyPr/>
          <a:lstStyle/>
          <a:p>
            <a:r>
              <a:rPr lang="en-US" b="1" dirty="0"/>
              <a:t>Control Structure</a:t>
            </a:r>
          </a:p>
        </p:txBody>
      </p:sp>
      <p:sp>
        <p:nvSpPr>
          <p:cNvPr id="3" name="Content Placeholder 2">
            <a:extLst>
              <a:ext uri="{FF2B5EF4-FFF2-40B4-BE49-F238E27FC236}">
                <a16:creationId xmlns:a16="http://schemas.microsoft.com/office/drawing/2014/main" id="{B784C4E6-9E5C-4F70-8A1F-A67F6459DC56}"/>
              </a:ext>
            </a:extLst>
          </p:cNvPr>
          <p:cNvSpPr>
            <a:spLocks noGrp="1"/>
          </p:cNvSpPr>
          <p:nvPr>
            <p:ph idx="1"/>
          </p:nvPr>
        </p:nvSpPr>
        <p:spPr/>
        <p:txBody>
          <a:bodyPr/>
          <a:lstStyle/>
          <a:p>
            <a:r>
              <a:rPr lang="en-US" dirty="0"/>
              <a:t>If statement</a:t>
            </a:r>
          </a:p>
          <a:p>
            <a:r>
              <a:rPr lang="en-US" dirty="0"/>
              <a:t>If else statement</a:t>
            </a:r>
          </a:p>
          <a:p>
            <a:r>
              <a:rPr lang="en-US" dirty="0"/>
              <a:t>Switch statement</a:t>
            </a:r>
          </a:p>
          <a:p>
            <a:r>
              <a:rPr lang="en-US" dirty="0"/>
              <a:t>***Same as javascript</a:t>
            </a:r>
          </a:p>
        </p:txBody>
      </p:sp>
    </p:spTree>
    <p:extLst>
      <p:ext uri="{BB962C8B-B14F-4D97-AF65-F5344CB8AC3E}">
        <p14:creationId xmlns:p14="http://schemas.microsoft.com/office/powerpoint/2010/main" val="12029562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9DCDF-335B-4564-A271-373F4ED80915}"/>
              </a:ext>
            </a:extLst>
          </p:cNvPr>
          <p:cNvSpPr>
            <a:spLocks noGrp="1"/>
          </p:cNvSpPr>
          <p:nvPr>
            <p:ph type="title"/>
          </p:nvPr>
        </p:nvSpPr>
        <p:spPr/>
        <p:txBody>
          <a:bodyPr/>
          <a:lstStyle/>
          <a:p>
            <a:r>
              <a:rPr lang="en-US" b="1" dirty="0"/>
              <a:t>Loops</a:t>
            </a:r>
          </a:p>
        </p:txBody>
      </p:sp>
      <p:sp>
        <p:nvSpPr>
          <p:cNvPr id="3" name="Content Placeholder 2">
            <a:extLst>
              <a:ext uri="{FF2B5EF4-FFF2-40B4-BE49-F238E27FC236}">
                <a16:creationId xmlns:a16="http://schemas.microsoft.com/office/drawing/2014/main" id="{B784C4E6-9E5C-4F70-8A1F-A67F6459DC56}"/>
              </a:ext>
            </a:extLst>
          </p:cNvPr>
          <p:cNvSpPr>
            <a:spLocks noGrp="1"/>
          </p:cNvSpPr>
          <p:nvPr>
            <p:ph idx="1"/>
          </p:nvPr>
        </p:nvSpPr>
        <p:spPr/>
        <p:txBody>
          <a:bodyPr>
            <a:normAutofit/>
          </a:bodyPr>
          <a:lstStyle/>
          <a:p>
            <a:pPr>
              <a:buFont typeface="Wingdings" panose="05000000000000000000" pitchFamily="2" charset="2"/>
              <a:buChar char="q"/>
            </a:pPr>
            <a:r>
              <a:rPr lang="en-US" dirty="0"/>
              <a:t>For Loop</a:t>
            </a:r>
          </a:p>
          <a:p>
            <a:pPr>
              <a:buFont typeface="Wingdings" panose="05000000000000000000" pitchFamily="2" charset="2"/>
              <a:buChar char="q"/>
            </a:pPr>
            <a:r>
              <a:rPr lang="en-US" dirty="0"/>
              <a:t>While loop</a:t>
            </a:r>
          </a:p>
          <a:p>
            <a:pPr>
              <a:buFont typeface="Wingdings" panose="05000000000000000000" pitchFamily="2" charset="2"/>
              <a:buChar char="q"/>
            </a:pPr>
            <a:r>
              <a:rPr lang="en-US" dirty="0"/>
              <a:t>Do while loop</a:t>
            </a:r>
          </a:p>
          <a:p>
            <a:pPr marL="0" indent="0">
              <a:buNone/>
            </a:pPr>
            <a:r>
              <a:rPr lang="en-US" sz="1100" dirty="0"/>
              <a:t>**same as javascript</a:t>
            </a:r>
          </a:p>
          <a:p>
            <a:pPr>
              <a:buFont typeface="Wingdings" panose="05000000000000000000" pitchFamily="2" charset="2"/>
              <a:buChar char="q"/>
            </a:pPr>
            <a:r>
              <a:rPr lang="en-US" b="1" dirty="0"/>
              <a:t>Foreach loop: example mentioned in previous slide (array)</a:t>
            </a:r>
          </a:p>
          <a:p>
            <a:pPr marL="0" indent="0">
              <a:buNone/>
            </a:pPr>
            <a:endParaRPr lang="en-US" dirty="0"/>
          </a:p>
        </p:txBody>
      </p:sp>
    </p:spTree>
    <p:extLst>
      <p:ext uri="{BB962C8B-B14F-4D97-AF65-F5344CB8AC3E}">
        <p14:creationId xmlns:p14="http://schemas.microsoft.com/office/powerpoint/2010/main" val="10431077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67A4D-94E5-4C92-A16C-2B0BE8A8E323}"/>
              </a:ext>
            </a:extLst>
          </p:cNvPr>
          <p:cNvSpPr>
            <a:spLocks noGrp="1"/>
          </p:cNvSpPr>
          <p:nvPr>
            <p:ph type="title"/>
          </p:nvPr>
        </p:nvSpPr>
        <p:spPr/>
        <p:txBody>
          <a:bodyPr/>
          <a:lstStyle/>
          <a:p>
            <a:r>
              <a:rPr lang="en-US" dirty="0"/>
              <a:t>PHP forms</a:t>
            </a:r>
          </a:p>
        </p:txBody>
      </p:sp>
      <p:sp>
        <p:nvSpPr>
          <p:cNvPr id="3" name="Content Placeholder 2">
            <a:extLst>
              <a:ext uri="{FF2B5EF4-FFF2-40B4-BE49-F238E27FC236}">
                <a16:creationId xmlns:a16="http://schemas.microsoft.com/office/drawing/2014/main" id="{C00B9292-8BB8-4C69-A3B7-03BF9832BB36}"/>
              </a:ext>
            </a:extLst>
          </p:cNvPr>
          <p:cNvSpPr>
            <a:spLocks noGrp="1"/>
          </p:cNvSpPr>
          <p:nvPr>
            <p:ph idx="1"/>
          </p:nvPr>
        </p:nvSpPr>
        <p:spPr/>
        <p:txBody>
          <a:bodyPr/>
          <a:lstStyle/>
          <a:p>
            <a:r>
              <a:rPr lang="en-US" dirty="0"/>
              <a:t>Forms are essential components of a website used register a new account, sign in or login to the account. Using a form in a PHP program is a two step activity. Step one is to display the form which involves constructing HTML tags and UI’s. Step two is processing the submitted for information submitted by the user.</a:t>
            </a:r>
          </a:p>
          <a:p>
            <a:r>
              <a:rPr lang="en-US" b="1" dirty="0"/>
              <a:t>Accessing Form Elements:</a:t>
            </a:r>
          </a:p>
          <a:p>
            <a:r>
              <a:rPr lang="en-US" dirty="0"/>
              <a:t>The PHP superglobals $_GET and $_POST are used to collect form data. $_GET is an array of variables passed to the current script via the URL parameters. $_POST is an array of variables passed to the current script via the HTTP POST method</a:t>
            </a:r>
          </a:p>
        </p:txBody>
      </p:sp>
    </p:spTree>
    <p:extLst>
      <p:ext uri="{BB962C8B-B14F-4D97-AF65-F5344CB8AC3E}">
        <p14:creationId xmlns:p14="http://schemas.microsoft.com/office/powerpoint/2010/main" val="8643846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5B187-4F27-48EA-A8C6-15F26DEB1AD2}"/>
              </a:ext>
            </a:extLst>
          </p:cNvPr>
          <p:cNvSpPr>
            <a:spLocks noGrp="1"/>
          </p:cNvSpPr>
          <p:nvPr>
            <p:ph type="title"/>
          </p:nvPr>
        </p:nvSpPr>
        <p:spPr/>
        <p:txBody>
          <a:bodyPr/>
          <a:lstStyle/>
          <a:p>
            <a:r>
              <a:rPr lang="en-US" b="1" dirty="0"/>
              <a:t>$_GET method</a:t>
            </a:r>
          </a:p>
        </p:txBody>
      </p:sp>
      <p:sp>
        <p:nvSpPr>
          <p:cNvPr id="3" name="Content Placeholder 2">
            <a:extLst>
              <a:ext uri="{FF2B5EF4-FFF2-40B4-BE49-F238E27FC236}">
                <a16:creationId xmlns:a16="http://schemas.microsoft.com/office/drawing/2014/main" id="{B013F73F-94CF-4DD3-8276-46261A854310}"/>
              </a:ext>
            </a:extLst>
          </p:cNvPr>
          <p:cNvSpPr>
            <a:spLocks noGrp="1"/>
          </p:cNvSpPr>
          <p:nvPr>
            <p:ph idx="1"/>
          </p:nvPr>
        </p:nvSpPr>
        <p:spPr/>
        <p:txBody>
          <a:bodyPr/>
          <a:lstStyle/>
          <a:p>
            <a:r>
              <a:rPr lang="en-US" dirty="0"/>
              <a:t>Information sent from a form with the GET method is visible to everyone(all variable names and values are displayed in the URL).</a:t>
            </a:r>
          </a:p>
          <a:p>
            <a:r>
              <a:rPr lang="en-US" dirty="0"/>
              <a:t>GET also has limits on the information to send. The limitation is about 2000 characters. GET may be used for sending non-sensitive data. GET should never be used for sending passwords or other sensitive information.</a:t>
            </a:r>
          </a:p>
        </p:txBody>
      </p:sp>
    </p:spTree>
    <p:extLst>
      <p:ext uri="{BB962C8B-B14F-4D97-AF65-F5344CB8AC3E}">
        <p14:creationId xmlns:p14="http://schemas.microsoft.com/office/powerpoint/2010/main" val="36479510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5B187-4F27-48EA-A8C6-15F26DEB1AD2}"/>
              </a:ext>
            </a:extLst>
          </p:cNvPr>
          <p:cNvSpPr>
            <a:spLocks noGrp="1"/>
          </p:cNvSpPr>
          <p:nvPr>
            <p:ph type="title"/>
          </p:nvPr>
        </p:nvSpPr>
        <p:spPr/>
        <p:txBody>
          <a:bodyPr/>
          <a:lstStyle/>
          <a:p>
            <a:r>
              <a:rPr lang="en-US" b="1" dirty="0"/>
              <a:t>$_POST method</a:t>
            </a:r>
          </a:p>
        </p:txBody>
      </p:sp>
      <p:sp>
        <p:nvSpPr>
          <p:cNvPr id="3" name="Content Placeholder 2">
            <a:extLst>
              <a:ext uri="{FF2B5EF4-FFF2-40B4-BE49-F238E27FC236}">
                <a16:creationId xmlns:a16="http://schemas.microsoft.com/office/drawing/2014/main" id="{B013F73F-94CF-4DD3-8276-46261A854310}"/>
              </a:ext>
            </a:extLst>
          </p:cNvPr>
          <p:cNvSpPr>
            <a:spLocks noGrp="1"/>
          </p:cNvSpPr>
          <p:nvPr>
            <p:ph idx="1"/>
          </p:nvPr>
        </p:nvSpPr>
        <p:spPr/>
        <p:txBody>
          <a:bodyPr/>
          <a:lstStyle/>
          <a:p>
            <a:r>
              <a:rPr lang="en-US" dirty="0"/>
              <a:t>Information sent from a form with the POST method is invisible to others(all names/values are embedded within the body of the HTTP request) and has no limits on the amount of information to be sent. POST may be used for sending sensitive data. Developers prefer POST for sending form data.</a:t>
            </a:r>
          </a:p>
        </p:txBody>
      </p:sp>
    </p:spTree>
    <p:extLst>
      <p:ext uri="{BB962C8B-B14F-4D97-AF65-F5344CB8AC3E}">
        <p14:creationId xmlns:p14="http://schemas.microsoft.com/office/powerpoint/2010/main" val="34763108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D1DCA-8B95-4D87-87CA-F682BE483822}"/>
              </a:ext>
            </a:extLst>
          </p:cNvPr>
          <p:cNvSpPr>
            <a:spLocks noGrp="1"/>
          </p:cNvSpPr>
          <p:nvPr>
            <p:ph type="title"/>
          </p:nvPr>
        </p:nvSpPr>
        <p:spPr/>
        <p:txBody>
          <a:bodyPr/>
          <a:lstStyle/>
          <a:p>
            <a:r>
              <a:rPr lang="en-US" b="1" dirty="0"/>
              <a:t>Form validation</a:t>
            </a:r>
          </a:p>
        </p:txBody>
      </p:sp>
      <p:sp>
        <p:nvSpPr>
          <p:cNvPr id="3" name="Content Placeholder 2">
            <a:extLst>
              <a:ext uri="{FF2B5EF4-FFF2-40B4-BE49-F238E27FC236}">
                <a16:creationId xmlns:a16="http://schemas.microsoft.com/office/drawing/2014/main" id="{10FFC81A-C425-4E4F-B34D-C6E56DA05717}"/>
              </a:ext>
            </a:extLst>
          </p:cNvPr>
          <p:cNvSpPr>
            <a:spLocks noGrp="1"/>
          </p:cNvSpPr>
          <p:nvPr>
            <p:ph idx="1"/>
          </p:nvPr>
        </p:nvSpPr>
        <p:spPr/>
        <p:txBody>
          <a:bodyPr/>
          <a:lstStyle/>
          <a:p>
            <a:r>
              <a:rPr lang="en-US" dirty="0"/>
              <a:t>Similar to Javascript.</a:t>
            </a:r>
            <a:br>
              <a:rPr lang="en-US" dirty="0"/>
            </a:br>
            <a:r>
              <a:rPr lang="en-US" dirty="0"/>
              <a:t>Study yourself</a:t>
            </a:r>
          </a:p>
        </p:txBody>
      </p:sp>
    </p:spTree>
    <p:extLst>
      <p:ext uri="{BB962C8B-B14F-4D97-AF65-F5344CB8AC3E}">
        <p14:creationId xmlns:p14="http://schemas.microsoft.com/office/powerpoint/2010/main" val="9339408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9AC71-9F7D-46FB-88A6-A5A125ED1456}"/>
              </a:ext>
            </a:extLst>
          </p:cNvPr>
          <p:cNvSpPr>
            <a:spLocks noGrp="1"/>
          </p:cNvSpPr>
          <p:nvPr>
            <p:ph type="title"/>
          </p:nvPr>
        </p:nvSpPr>
        <p:spPr/>
        <p:txBody>
          <a:bodyPr/>
          <a:lstStyle/>
          <a:p>
            <a:r>
              <a:rPr lang="en-US" b="1" dirty="0"/>
              <a:t>Cookies</a:t>
            </a:r>
          </a:p>
        </p:txBody>
      </p:sp>
      <p:pic>
        <p:nvPicPr>
          <p:cNvPr id="3074" name="Picture 2" descr="What is Cookies in PHP?|How to set the Cookies in PHP?">
            <a:extLst>
              <a:ext uri="{FF2B5EF4-FFF2-40B4-BE49-F238E27FC236}">
                <a16:creationId xmlns:a16="http://schemas.microsoft.com/office/drawing/2014/main" id="{84539C7D-1CE3-493E-A105-ABEF13D613E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99769" y="1828800"/>
            <a:ext cx="7787640" cy="40763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00761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9AC71-9F7D-46FB-88A6-A5A125ED1456}"/>
              </a:ext>
            </a:extLst>
          </p:cNvPr>
          <p:cNvSpPr>
            <a:spLocks noGrp="1"/>
          </p:cNvSpPr>
          <p:nvPr>
            <p:ph type="title"/>
          </p:nvPr>
        </p:nvSpPr>
        <p:spPr/>
        <p:txBody>
          <a:bodyPr/>
          <a:lstStyle/>
          <a:p>
            <a:r>
              <a:rPr lang="en-US" b="1" dirty="0"/>
              <a:t>Cookies</a:t>
            </a:r>
          </a:p>
        </p:txBody>
      </p:sp>
      <p:sp>
        <p:nvSpPr>
          <p:cNvPr id="3" name="Content Placeholder 2">
            <a:extLst>
              <a:ext uri="{FF2B5EF4-FFF2-40B4-BE49-F238E27FC236}">
                <a16:creationId xmlns:a16="http://schemas.microsoft.com/office/drawing/2014/main" id="{1000C14F-5A49-44BB-9D73-50ECC99BD7D3}"/>
              </a:ext>
            </a:extLst>
          </p:cNvPr>
          <p:cNvSpPr>
            <a:spLocks noGrp="1"/>
          </p:cNvSpPr>
          <p:nvPr>
            <p:ph idx="1"/>
          </p:nvPr>
        </p:nvSpPr>
        <p:spPr/>
        <p:txBody>
          <a:bodyPr/>
          <a:lstStyle/>
          <a:p>
            <a:r>
              <a:rPr lang="en-US" dirty="0"/>
              <a:t>Cookie: A cookie is variable that is stored on the visitors computer. Each time the same computer requests a page with a browser it will sent the cookie too. With PHP, we can both create and retrieve cookie values.</a:t>
            </a:r>
          </a:p>
          <a:p>
            <a:r>
              <a:rPr lang="en-US" dirty="0"/>
              <a:t>*Creating cookies with PHP</a:t>
            </a:r>
          </a:p>
          <a:p>
            <a:r>
              <a:rPr lang="en-US" dirty="0"/>
              <a:t>Syntax: setcookie(name,value,expire,path,domain,…);</a:t>
            </a:r>
          </a:p>
          <a:p>
            <a:r>
              <a:rPr lang="en-US" dirty="0"/>
              <a:t>Only name parameter is compulsary. And other are optional.</a:t>
            </a:r>
          </a:p>
          <a:p>
            <a:r>
              <a:rPr lang="en-US" dirty="0"/>
              <a:t>To delete a cookie, we use the setcookie()function with an expiration date in the past.</a:t>
            </a:r>
          </a:p>
        </p:txBody>
      </p:sp>
    </p:spTree>
    <p:extLst>
      <p:ext uri="{BB962C8B-B14F-4D97-AF65-F5344CB8AC3E}">
        <p14:creationId xmlns:p14="http://schemas.microsoft.com/office/powerpoint/2010/main" val="39104614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9AC71-9F7D-46FB-88A6-A5A125ED1456}"/>
              </a:ext>
            </a:extLst>
          </p:cNvPr>
          <p:cNvSpPr>
            <a:spLocks noGrp="1"/>
          </p:cNvSpPr>
          <p:nvPr>
            <p:ph type="title"/>
          </p:nvPr>
        </p:nvSpPr>
        <p:spPr/>
        <p:txBody>
          <a:bodyPr/>
          <a:lstStyle/>
          <a:p>
            <a:r>
              <a:rPr lang="en-US" b="1" dirty="0"/>
              <a:t>Cookies</a:t>
            </a:r>
          </a:p>
        </p:txBody>
      </p:sp>
      <p:sp>
        <p:nvSpPr>
          <p:cNvPr id="3" name="Content Placeholder 2">
            <a:extLst>
              <a:ext uri="{FF2B5EF4-FFF2-40B4-BE49-F238E27FC236}">
                <a16:creationId xmlns:a16="http://schemas.microsoft.com/office/drawing/2014/main" id="{1000C14F-5A49-44BB-9D73-50ECC99BD7D3}"/>
              </a:ext>
            </a:extLst>
          </p:cNvPr>
          <p:cNvSpPr>
            <a:spLocks noGrp="1"/>
          </p:cNvSpPr>
          <p:nvPr>
            <p:ph idx="1"/>
          </p:nvPr>
        </p:nvSpPr>
        <p:spPr>
          <a:xfrm>
            <a:off x="822959" y="1845734"/>
            <a:ext cx="7863841" cy="4478866"/>
          </a:xfrm>
        </p:spPr>
        <p:txBody>
          <a:bodyPr>
            <a:normAutofit fontScale="92500" lnSpcReduction="10000"/>
          </a:bodyPr>
          <a:lstStyle/>
          <a:p>
            <a:r>
              <a:rPr lang="en-US" dirty="0"/>
              <a:t>Example: Creating and retrieve  a cookie</a:t>
            </a:r>
          </a:p>
          <a:p>
            <a:r>
              <a:rPr lang="en-US" dirty="0"/>
              <a:t>&lt;?</a:t>
            </a:r>
          </a:p>
          <a:p>
            <a:r>
              <a:rPr lang="en-US" dirty="0"/>
              <a:t>$cookie_name=“username”;</a:t>
            </a:r>
          </a:p>
          <a:p>
            <a:r>
              <a:rPr lang="en-US" dirty="0"/>
              <a:t>$cookie_value=“John Doe”;</a:t>
            </a:r>
          </a:p>
          <a:p>
            <a:r>
              <a:rPr lang="en-US" dirty="0"/>
              <a:t>setcookie($cookie_name,$cookie_value,time()+(86400*30),”/”);</a:t>
            </a:r>
          </a:p>
          <a:p>
            <a:r>
              <a:rPr lang="en-US" dirty="0"/>
              <a:t>If(!isset($_COOKIE[$cookie_name])){</a:t>
            </a:r>
          </a:p>
          <a:p>
            <a:pPr lvl="1"/>
            <a:r>
              <a:rPr lang="en-US" dirty="0"/>
              <a:t>echo $cookie_name.”is not set”;</a:t>
            </a:r>
          </a:p>
          <a:p>
            <a:pPr lvl="1"/>
            <a:r>
              <a:rPr lang="en-US" dirty="0"/>
              <a:t>}</a:t>
            </a:r>
          </a:p>
          <a:p>
            <a:r>
              <a:rPr lang="en-US" dirty="0"/>
              <a:t>else{</a:t>
            </a:r>
          </a:p>
          <a:p>
            <a:pPr lvl="1"/>
            <a:r>
              <a:rPr lang="en-US" dirty="0"/>
              <a:t>echo $</a:t>
            </a:r>
            <a:r>
              <a:rPr lang="en-US" dirty="0" err="1"/>
              <a:t>cookie_name.”is</a:t>
            </a:r>
            <a:r>
              <a:rPr lang="en-US" dirty="0"/>
              <a:t> set ”;</a:t>
            </a:r>
          </a:p>
          <a:p>
            <a:pPr lvl="1"/>
            <a:r>
              <a:rPr lang="en-US" dirty="0"/>
              <a:t>}</a:t>
            </a:r>
          </a:p>
          <a:p>
            <a:pPr lvl="1"/>
            <a:r>
              <a:rPr lang="en-US" dirty="0"/>
              <a:t>?&gt;</a:t>
            </a:r>
          </a:p>
        </p:txBody>
      </p:sp>
    </p:spTree>
    <p:extLst>
      <p:ext uri="{BB962C8B-B14F-4D97-AF65-F5344CB8AC3E}">
        <p14:creationId xmlns:p14="http://schemas.microsoft.com/office/powerpoint/2010/main" val="22209049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9AC71-9F7D-46FB-88A6-A5A125ED1456}"/>
              </a:ext>
            </a:extLst>
          </p:cNvPr>
          <p:cNvSpPr>
            <a:spLocks noGrp="1"/>
          </p:cNvSpPr>
          <p:nvPr>
            <p:ph type="title"/>
          </p:nvPr>
        </p:nvSpPr>
        <p:spPr/>
        <p:txBody>
          <a:bodyPr/>
          <a:lstStyle/>
          <a:p>
            <a:r>
              <a:rPr lang="en-US" b="1" dirty="0"/>
              <a:t>Session</a:t>
            </a:r>
          </a:p>
        </p:txBody>
      </p:sp>
      <p:sp>
        <p:nvSpPr>
          <p:cNvPr id="3" name="Content Placeholder 2">
            <a:extLst>
              <a:ext uri="{FF2B5EF4-FFF2-40B4-BE49-F238E27FC236}">
                <a16:creationId xmlns:a16="http://schemas.microsoft.com/office/drawing/2014/main" id="{1000C14F-5A49-44BB-9D73-50ECC99BD7D3}"/>
              </a:ext>
            </a:extLst>
          </p:cNvPr>
          <p:cNvSpPr>
            <a:spLocks noGrp="1"/>
          </p:cNvSpPr>
          <p:nvPr>
            <p:ph idx="1"/>
          </p:nvPr>
        </p:nvSpPr>
        <p:spPr>
          <a:xfrm>
            <a:off x="822959" y="1845734"/>
            <a:ext cx="7863841" cy="4478866"/>
          </a:xfrm>
        </p:spPr>
        <p:txBody>
          <a:bodyPr>
            <a:normAutofit/>
          </a:bodyPr>
          <a:lstStyle/>
          <a:p>
            <a:r>
              <a:rPr lang="en-US" dirty="0"/>
              <a:t>A session is a way to store information(in variables) to be used across multiple pages. Unlike a cookie, the information is not stored on the users computer rather session is stored in server. Session variables hold information about one single user and are available to all pages in one application.</a:t>
            </a:r>
          </a:p>
          <a:p>
            <a:r>
              <a:rPr lang="en-US" dirty="0"/>
              <a:t># Why do we need session?</a:t>
            </a:r>
          </a:p>
          <a:p>
            <a:pPr lvl="1"/>
            <a:r>
              <a:rPr lang="en-US" dirty="0"/>
              <a:t>When we work with an application, we open it, do some changes, and then we close it. This is much like session. The computer knows who we are. It knows when we start the application and when we end. But on the internet there is one problem: the web server does not know who we are or what er do, because HTTP address doesn’t maintain state. Session variable solve this problem by storing user information to be used across multiple pages. By, default, session variables last until the user closes the browser.</a:t>
            </a:r>
          </a:p>
        </p:txBody>
      </p:sp>
    </p:spTree>
    <p:extLst>
      <p:ext uri="{BB962C8B-B14F-4D97-AF65-F5344CB8AC3E}">
        <p14:creationId xmlns:p14="http://schemas.microsoft.com/office/powerpoint/2010/main" val="27462909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9AC71-9F7D-46FB-88A6-A5A125ED1456}"/>
              </a:ext>
            </a:extLst>
          </p:cNvPr>
          <p:cNvSpPr>
            <a:spLocks noGrp="1"/>
          </p:cNvSpPr>
          <p:nvPr>
            <p:ph type="title"/>
          </p:nvPr>
        </p:nvSpPr>
        <p:spPr/>
        <p:txBody>
          <a:bodyPr/>
          <a:lstStyle/>
          <a:p>
            <a:r>
              <a:rPr lang="en-US" b="1" dirty="0"/>
              <a:t>Session</a:t>
            </a:r>
          </a:p>
        </p:txBody>
      </p:sp>
      <p:sp>
        <p:nvSpPr>
          <p:cNvPr id="3" name="Content Placeholder 2">
            <a:extLst>
              <a:ext uri="{FF2B5EF4-FFF2-40B4-BE49-F238E27FC236}">
                <a16:creationId xmlns:a16="http://schemas.microsoft.com/office/drawing/2014/main" id="{1000C14F-5A49-44BB-9D73-50ECC99BD7D3}"/>
              </a:ext>
            </a:extLst>
          </p:cNvPr>
          <p:cNvSpPr>
            <a:spLocks noGrp="1"/>
          </p:cNvSpPr>
          <p:nvPr>
            <p:ph idx="1"/>
          </p:nvPr>
        </p:nvSpPr>
        <p:spPr>
          <a:xfrm>
            <a:off x="822959" y="1845734"/>
            <a:ext cx="7863841" cy="4478866"/>
          </a:xfrm>
        </p:spPr>
        <p:txBody>
          <a:bodyPr>
            <a:normAutofit/>
          </a:bodyPr>
          <a:lstStyle/>
          <a:p>
            <a:r>
              <a:rPr lang="en-US" b="1" dirty="0"/>
              <a:t>Uses of Session:</a:t>
            </a:r>
          </a:p>
          <a:p>
            <a:pPr>
              <a:buFont typeface="Wingdings" panose="05000000000000000000" pitchFamily="2" charset="2"/>
              <a:buChar char="q"/>
            </a:pPr>
            <a:r>
              <a:rPr lang="en-US" dirty="0"/>
              <a:t>Session can help to uniquely identify each client from another</a:t>
            </a:r>
          </a:p>
          <a:p>
            <a:pPr>
              <a:buFont typeface="Wingdings" panose="05000000000000000000" pitchFamily="2" charset="2"/>
              <a:buChar char="q"/>
            </a:pPr>
            <a:r>
              <a:rPr lang="en-US" dirty="0"/>
              <a:t>Session is secure and transparent from the user</a:t>
            </a:r>
          </a:p>
          <a:p>
            <a:pPr>
              <a:buFont typeface="Wingdings" panose="05000000000000000000" pitchFamily="2" charset="2"/>
              <a:buChar char="q"/>
            </a:pPr>
            <a:r>
              <a:rPr lang="en-US" dirty="0"/>
              <a:t>It is easy to implement and we can store any kind of object</a:t>
            </a:r>
          </a:p>
          <a:p>
            <a:pPr>
              <a:buFont typeface="Wingdings" panose="05000000000000000000" pitchFamily="2" charset="2"/>
              <a:buChar char="q"/>
            </a:pPr>
            <a:r>
              <a:rPr lang="en-US" dirty="0"/>
              <a:t>It helps to maintain user state and data all over the application</a:t>
            </a:r>
          </a:p>
          <a:p>
            <a:pPr>
              <a:buFont typeface="Wingdings" panose="05000000000000000000" pitchFamily="2" charset="2"/>
              <a:buChar char="q"/>
            </a:pPr>
            <a:r>
              <a:rPr lang="en-US" dirty="0"/>
              <a:t>It stores client data separately</a:t>
            </a:r>
          </a:p>
          <a:p>
            <a:r>
              <a:rPr lang="en-US" b="1" dirty="0"/>
              <a:t>Starting PHP Session:</a:t>
            </a:r>
          </a:p>
          <a:p>
            <a:r>
              <a:rPr lang="en-US" dirty="0"/>
              <a:t>A PHP session is easily started by making a call to the session_start() function. Session variables are stored in associative array called $_SESSION[]. We make use of isset() function to check if session variable is already set or not.</a:t>
            </a:r>
          </a:p>
        </p:txBody>
      </p:sp>
    </p:spTree>
    <p:extLst>
      <p:ext uri="{BB962C8B-B14F-4D97-AF65-F5344CB8AC3E}">
        <p14:creationId xmlns:p14="http://schemas.microsoft.com/office/powerpoint/2010/main" val="336528694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9AC71-9F7D-46FB-88A6-A5A125ED1456}"/>
              </a:ext>
            </a:extLst>
          </p:cNvPr>
          <p:cNvSpPr>
            <a:spLocks noGrp="1"/>
          </p:cNvSpPr>
          <p:nvPr>
            <p:ph type="title"/>
          </p:nvPr>
        </p:nvSpPr>
        <p:spPr/>
        <p:txBody>
          <a:bodyPr/>
          <a:lstStyle/>
          <a:p>
            <a:r>
              <a:rPr lang="en-US" b="1" dirty="0"/>
              <a:t>Session</a:t>
            </a:r>
          </a:p>
        </p:txBody>
      </p:sp>
      <p:sp>
        <p:nvSpPr>
          <p:cNvPr id="3" name="Content Placeholder 2">
            <a:extLst>
              <a:ext uri="{FF2B5EF4-FFF2-40B4-BE49-F238E27FC236}">
                <a16:creationId xmlns:a16="http://schemas.microsoft.com/office/drawing/2014/main" id="{1000C14F-5A49-44BB-9D73-50ECC99BD7D3}"/>
              </a:ext>
            </a:extLst>
          </p:cNvPr>
          <p:cNvSpPr>
            <a:spLocks noGrp="1"/>
          </p:cNvSpPr>
          <p:nvPr>
            <p:ph idx="1"/>
          </p:nvPr>
        </p:nvSpPr>
        <p:spPr>
          <a:xfrm>
            <a:off x="822959" y="1845734"/>
            <a:ext cx="7863841" cy="4478866"/>
          </a:xfrm>
        </p:spPr>
        <p:txBody>
          <a:bodyPr>
            <a:normAutofit lnSpcReduction="10000"/>
          </a:bodyPr>
          <a:lstStyle/>
          <a:p>
            <a:r>
              <a:rPr lang="en-US" b="1" dirty="0"/>
              <a:t>Example: Starting session and setting session values</a:t>
            </a:r>
          </a:p>
          <a:p>
            <a:r>
              <a:rPr lang="en-US" dirty="0"/>
              <a:t>&lt;?php</a:t>
            </a:r>
          </a:p>
          <a:p>
            <a:r>
              <a:rPr lang="en-US" dirty="0"/>
              <a:t>//start the session</a:t>
            </a:r>
          </a:p>
          <a:p>
            <a:r>
              <a:rPr lang="en-US" dirty="0"/>
              <a:t>session_start();</a:t>
            </a:r>
          </a:p>
          <a:p>
            <a:r>
              <a:rPr lang="en-US" dirty="0"/>
              <a:t>//set session variables</a:t>
            </a:r>
          </a:p>
          <a:p>
            <a:r>
              <a:rPr lang="en-US" dirty="0"/>
              <a:t>$_SESSION[“username”]=“john”;</a:t>
            </a:r>
          </a:p>
          <a:p>
            <a:r>
              <a:rPr lang="en-US" dirty="0"/>
              <a:t>$_SESSION[“email”]=“lucky@gmail.com”;</a:t>
            </a:r>
          </a:p>
          <a:p>
            <a:r>
              <a:rPr lang="en-US" dirty="0"/>
              <a:t>echo “Session variables are set”;</a:t>
            </a:r>
          </a:p>
          <a:p>
            <a:r>
              <a:rPr lang="en-US" dirty="0"/>
              <a:t>?&gt;</a:t>
            </a:r>
          </a:p>
          <a:p>
            <a:r>
              <a:rPr lang="en-US" dirty="0"/>
              <a:t>** session_unset() or session_destroy() is used to remove all global variables and destroy session.</a:t>
            </a:r>
          </a:p>
        </p:txBody>
      </p:sp>
    </p:spTree>
    <p:extLst>
      <p:ext uri="{BB962C8B-B14F-4D97-AF65-F5344CB8AC3E}">
        <p14:creationId xmlns:p14="http://schemas.microsoft.com/office/powerpoint/2010/main" val="27356671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What are Sessions and cookies? - DataOps Redefined!!!">
            <a:extLst>
              <a:ext uri="{FF2B5EF4-FFF2-40B4-BE49-F238E27FC236}">
                <a16:creationId xmlns:a16="http://schemas.microsoft.com/office/drawing/2014/main" id="{774CBC9F-5FAD-45CF-8779-CAADD042FD3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94447" y="1905000"/>
            <a:ext cx="6600825" cy="3419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85499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39433-036E-49AA-87A8-7749BC7D0590}"/>
              </a:ext>
            </a:extLst>
          </p:cNvPr>
          <p:cNvSpPr>
            <a:spLocks noGrp="1"/>
          </p:cNvSpPr>
          <p:nvPr>
            <p:ph type="title"/>
          </p:nvPr>
        </p:nvSpPr>
        <p:spPr>
          <a:xfrm>
            <a:off x="822960" y="286605"/>
            <a:ext cx="7543800" cy="932596"/>
          </a:xfrm>
        </p:spPr>
        <p:txBody>
          <a:bodyPr>
            <a:normAutofit/>
          </a:bodyPr>
          <a:lstStyle/>
          <a:p>
            <a:r>
              <a:rPr lang="en-US" sz="4400" b="1" dirty="0"/>
              <a:t>Introduction to PHP Frameworks</a:t>
            </a:r>
          </a:p>
        </p:txBody>
      </p:sp>
      <p:sp>
        <p:nvSpPr>
          <p:cNvPr id="3" name="Content Placeholder 2">
            <a:extLst>
              <a:ext uri="{FF2B5EF4-FFF2-40B4-BE49-F238E27FC236}">
                <a16:creationId xmlns:a16="http://schemas.microsoft.com/office/drawing/2014/main" id="{2E16D618-ADE2-4464-914F-703AC3BAF0A5}"/>
              </a:ext>
            </a:extLst>
          </p:cNvPr>
          <p:cNvSpPr>
            <a:spLocks noGrp="1"/>
          </p:cNvSpPr>
          <p:nvPr>
            <p:ph idx="1"/>
          </p:nvPr>
        </p:nvSpPr>
        <p:spPr>
          <a:xfrm>
            <a:off x="822959" y="1219201"/>
            <a:ext cx="7543801" cy="5105399"/>
          </a:xfrm>
        </p:spPr>
        <p:txBody>
          <a:bodyPr>
            <a:normAutofit fontScale="92500" lnSpcReduction="20000"/>
          </a:bodyPr>
          <a:lstStyle/>
          <a:p>
            <a:r>
              <a:rPr lang="en-US" dirty="0"/>
              <a:t>1.CodeIgniter:</a:t>
            </a:r>
          </a:p>
          <a:p>
            <a:endParaRPr lang="en-US" dirty="0"/>
          </a:p>
          <a:p>
            <a:r>
              <a:rPr lang="en-US" dirty="0"/>
              <a:t>CodeIgniter is a powerful PHP framework with a very small footprint, built for developers who need a simple and elegant toolkit to create full featured web applications. It works on MVC(Model View Controller) framework</a:t>
            </a:r>
          </a:p>
          <a:p>
            <a:r>
              <a:rPr lang="en-US" dirty="0"/>
              <a:t>Installation steps in book/uses</a:t>
            </a:r>
          </a:p>
          <a:p>
            <a:r>
              <a:rPr lang="en-US" dirty="0"/>
              <a:t>2. Laravel: Laravel is a web application framework with expressive, elegant syntax. Laravel attempts to take the pain out of development by easing common tasks used in the majority of </a:t>
            </a:r>
            <a:r>
              <a:rPr lang="en-US" dirty="0" err="1"/>
              <a:t>wb</a:t>
            </a:r>
            <a:r>
              <a:rPr lang="en-US" dirty="0"/>
              <a:t> projects such as authentication, routing, sessions and caching. Laravel is a powerful MVC PHP framework.</a:t>
            </a:r>
          </a:p>
          <a:p>
            <a:r>
              <a:rPr lang="en-US" dirty="0"/>
              <a:t>Installation steps in book/uses</a:t>
            </a:r>
          </a:p>
          <a:p>
            <a:r>
              <a:rPr lang="en-US" dirty="0"/>
              <a:t>3.Wordpress:</a:t>
            </a:r>
          </a:p>
          <a:p>
            <a:r>
              <a:rPr lang="en-US" dirty="0" err="1"/>
              <a:t>Wordpress</a:t>
            </a:r>
            <a:r>
              <a:rPr lang="en-US" dirty="0"/>
              <a:t> is a free and open source content management system.(CMS) based on PHP and MYSQL. It is the most widely used CMS software in the world. </a:t>
            </a:r>
            <a:r>
              <a:rPr lang="en-US" dirty="0" err="1"/>
              <a:t>Wordpress</a:t>
            </a:r>
            <a:r>
              <a:rPr lang="en-US" dirty="0"/>
              <a:t> is an industry leading website and blog building tool. There is an entire community of </a:t>
            </a:r>
            <a:r>
              <a:rPr lang="en-US" dirty="0" err="1"/>
              <a:t>Wordpress</a:t>
            </a:r>
            <a:r>
              <a:rPr lang="en-US" dirty="0"/>
              <a:t> users and developers who are able to assist one another. User have countless options for free and paid plugins and site templates for their use in creating their site.</a:t>
            </a:r>
          </a:p>
        </p:txBody>
      </p:sp>
      <p:pic>
        <p:nvPicPr>
          <p:cNvPr id="1028" name="Picture 4" descr="Framework Codeigniter">
            <a:extLst>
              <a:ext uri="{FF2B5EF4-FFF2-40B4-BE49-F238E27FC236}">
                <a16:creationId xmlns:a16="http://schemas.microsoft.com/office/drawing/2014/main" id="{3CAB0AE9-75B6-4628-848A-6BD1D1AA6ED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51275" y="1017481"/>
            <a:ext cx="641449" cy="762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What is Laravel? What is it used for?">
            <a:extLst>
              <a:ext uri="{FF2B5EF4-FFF2-40B4-BE49-F238E27FC236}">
                <a16:creationId xmlns:a16="http://schemas.microsoft.com/office/drawing/2014/main" id="{498DCCDA-6151-4CE4-93E6-7205E2FFEB7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80250" y="2590800"/>
            <a:ext cx="1229217" cy="50641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WordPress Logo, symbol, meaning, history, PNG, brand">
            <a:extLst>
              <a:ext uri="{FF2B5EF4-FFF2-40B4-BE49-F238E27FC236}">
                <a16:creationId xmlns:a16="http://schemas.microsoft.com/office/drawing/2014/main" id="{C9DBAFF6-E05A-4208-AC97-2A0B78EA862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79333" y="4114800"/>
            <a:ext cx="1185333" cy="666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901560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61449-4B47-4694-845E-7309C31C5999}"/>
              </a:ext>
            </a:extLst>
          </p:cNvPr>
          <p:cNvSpPr>
            <a:spLocks noGrp="1"/>
          </p:cNvSpPr>
          <p:nvPr>
            <p:ph type="title"/>
          </p:nvPr>
        </p:nvSpPr>
        <p:spPr/>
        <p:txBody>
          <a:bodyPr/>
          <a:lstStyle/>
          <a:p>
            <a:r>
              <a:rPr lang="en-US" b="1" dirty="0"/>
              <a:t>MVC architecture</a:t>
            </a:r>
          </a:p>
        </p:txBody>
      </p:sp>
      <p:pic>
        <p:nvPicPr>
          <p:cNvPr id="2050" name="Picture 2" descr="CodeIgniter MVC(Model View Controller) Framework with Example">
            <a:extLst>
              <a:ext uri="{FF2B5EF4-FFF2-40B4-BE49-F238E27FC236}">
                <a16:creationId xmlns:a16="http://schemas.microsoft.com/office/drawing/2014/main" id="{232B711D-F99A-4582-9004-35C294C0EA3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26920" y="1846263"/>
            <a:ext cx="6534610" cy="4022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539164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39433-036E-49AA-87A8-7749BC7D0590}"/>
              </a:ext>
            </a:extLst>
          </p:cNvPr>
          <p:cNvSpPr>
            <a:spLocks noGrp="1"/>
          </p:cNvSpPr>
          <p:nvPr>
            <p:ph type="title"/>
          </p:nvPr>
        </p:nvSpPr>
        <p:spPr>
          <a:xfrm>
            <a:off x="822960" y="286605"/>
            <a:ext cx="7543800" cy="932596"/>
          </a:xfrm>
        </p:spPr>
        <p:txBody>
          <a:bodyPr>
            <a:normAutofit/>
          </a:bodyPr>
          <a:lstStyle/>
          <a:p>
            <a:r>
              <a:rPr lang="en-US" sz="4400" b="1" dirty="0"/>
              <a:t>WordPress interface</a:t>
            </a:r>
          </a:p>
        </p:txBody>
      </p:sp>
      <p:pic>
        <p:nvPicPr>
          <p:cNvPr id="5" name="Picture 4">
            <a:extLst>
              <a:ext uri="{FF2B5EF4-FFF2-40B4-BE49-F238E27FC236}">
                <a16:creationId xmlns:a16="http://schemas.microsoft.com/office/drawing/2014/main" id="{6C5070A0-9D5E-4D1F-823E-804550034B54}"/>
              </a:ext>
            </a:extLst>
          </p:cNvPr>
          <p:cNvPicPr>
            <a:picLocks noChangeAspect="1"/>
          </p:cNvPicPr>
          <p:nvPr/>
        </p:nvPicPr>
        <p:blipFill>
          <a:blip r:embed="rId2"/>
          <a:stretch>
            <a:fillRect/>
          </a:stretch>
        </p:blipFill>
        <p:spPr>
          <a:xfrm>
            <a:off x="1066919" y="2133600"/>
            <a:ext cx="7299841" cy="3466556"/>
          </a:xfrm>
          <a:prstGeom prst="rect">
            <a:avLst/>
          </a:prstGeom>
        </p:spPr>
      </p:pic>
    </p:spTree>
    <p:extLst>
      <p:ext uri="{BB962C8B-B14F-4D97-AF65-F5344CB8AC3E}">
        <p14:creationId xmlns:p14="http://schemas.microsoft.com/office/powerpoint/2010/main" val="18067117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39433-036E-49AA-87A8-7749BC7D0590}"/>
              </a:ext>
            </a:extLst>
          </p:cNvPr>
          <p:cNvSpPr>
            <a:spLocks noGrp="1"/>
          </p:cNvSpPr>
          <p:nvPr>
            <p:ph type="title"/>
          </p:nvPr>
        </p:nvSpPr>
        <p:spPr>
          <a:xfrm>
            <a:off x="822960" y="286605"/>
            <a:ext cx="7543800" cy="932596"/>
          </a:xfrm>
        </p:spPr>
        <p:txBody>
          <a:bodyPr>
            <a:normAutofit/>
          </a:bodyPr>
          <a:lstStyle/>
          <a:p>
            <a:r>
              <a:rPr lang="en-US" sz="4400" b="1" dirty="0"/>
              <a:t>WordPress interface</a:t>
            </a:r>
          </a:p>
        </p:txBody>
      </p:sp>
      <p:pic>
        <p:nvPicPr>
          <p:cNvPr id="4" name="Picture 3">
            <a:extLst>
              <a:ext uri="{FF2B5EF4-FFF2-40B4-BE49-F238E27FC236}">
                <a16:creationId xmlns:a16="http://schemas.microsoft.com/office/drawing/2014/main" id="{77577587-A8FF-418A-8528-8940A903D6D2}"/>
              </a:ext>
            </a:extLst>
          </p:cNvPr>
          <p:cNvPicPr>
            <a:picLocks noChangeAspect="1"/>
          </p:cNvPicPr>
          <p:nvPr/>
        </p:nvPicPr>
        <p:blipFill>
          <a:blip r:embed="rId2"/>
          <a:stretch>
            <a:fillRect/>
          </a:stretch>
        </p:blipFill>
        <p:spPr>
          <a:xfrm>
            <a:off x="685800" y="1605945"/>
            <a:ext cx="8458200" cy="3967825"/>
          </a:xfrm>
          <a:prstGeom prst="rect">
            <a:avLst/>
          </a:prstGeom>
        </p:spPr>
      </p:pic>
    </p:spTree>
    <p:extLst>
      <p:ext uri="{BB962C8B-B14F-4D97-AF65-F5344CB8AC3E}">
        <p14:creationId xmlns:p14="http://schemas.microsoft.com/office/powerpoint/2010/main" val="20924612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2FA54-6AEF-470B-8D02-478F27708C44}"/>
              </a:ext>
            </a:extLst>
          </p:cNvPr>
          <p:cNvSpPr>
            <a:spLocks noGrp="1"/>
          </p:cNvSpPr>
          <p:nvPr>
            <p:ph type="title"/>
          </p:nvPr>
        </p:nvSpPr>
        <p:spPr/>
        <p:txBody>
          <a:bodyPr/>
          <a:lstStyle/>
          <a:p>
            <a:r>
              <a:rPr lang="en-US" dirty="0"/>
              <a:t>Assignment</a:t>
            </a:r>
          </a:p>
        </p:txBody>
      </p:sp>
      <p:sp>
        <p:nvSpPr>
          <p:cNvPr id="3" name="Content Placeholder 2">
            <a:extLst>
              <a:ext uri="{FF2B5EF4-FFF2-40B4-BE49-F238E27FC236}">
                <a16:creationId xmlns:a16="http://schemas.microsoft.com/office/drawing/2014/main" id="{EDEB2AD4-7E9F-4B3B-BC32-87303CABCA64}"/>
              </a:ext>
            </a:extLst>
          </p:cNvPr>
          <p:cNvSpPr>
            <a:spLocks noGrp="1"/>
          </p:cNvSpPr>
          <p:nvPr>
            <p:ph idx="1"/>
          </p:nvPr>
        </p:nvSpPr>
        <p:spPr/>
        <p:txBody>
          <a:bodyPr/>
          <a:lstStyle/>
          <a:p>
            <a:pPr marL="457200" indent="-457200">
              <a:buFont typeface="+mj-lt"/>
              <a:buAutoNum type="arabicPeriod"/>
            </a:pPr>
            <a:r>
              <a:rPr lang="en-US" dirty="0"/>
              <a:t>Define Class and Object in PHP</a:t>
            </a:r>
          </a:p>
          <a:p>
            <a:pPr marL="457200" indent="-457200">
              <a:buFont typeface="+mj-lt"/>
              <a:buAutoNum type="arabicPeriod"/>
            </a:pPr>
            <a:r>
              <a:rPr lang="en-US" dirty="0"/>
              <a:t>Define Events in PHP</a:t>
            </a:r>
          </a:p>
          <a:p>
            <a:pPr marL="457200" indent="-457200">
              <a:buFont typeface="+mj-lt"/>
              <a:buAutoNum type="arabicPeriod"/>
            </a:pPr>
            <a:r>
              <a:rPr lang="en-US" dirty="0"/>
              <a:t>Define PHP </a:t>
            </a:r>
            <a:r>
              <a:rPr lang="en-US" dirty="0" err="1"/>
              <a:t>Superglobals</a:t>
            </a:r>
            <a:r>
              <a:rPr lang="en-US" dirty="0"/>
              <a:t>.</a:t>
            </a:r>
            <a:br>
              <a:rPr lang="en-US" dirty="0"/>
            </a:br>
            <a:r>
              <a:rPr lang="en-US" dirty="0"/>
              <a:t>$_REQUEST</a:t>
            </a:r>
            <a:br>
              <a:rPr lang="en-US" dirty="0"/>
            </a:br>
            <a:r>
              <a:rPr lang="en-US" dirty="0"/>
              <a:t>$_SERVER</a:t>
            </a:r>
            <a:br>
              <a:rPr lang="en-US" dirty="0"/>
            </a:br>
            <a:endParaRPr lang="en-US" dirty="0"/>
          </a:p>
        </p:txBody>
      </p:sp>
    </p:spTree>
    <p:extLst>
      <p:ext uri="{BB962C8B-B14F-4D97-AF65-F5344CB8AC3E}">
        <p14:creationId xmlns:p14="http://schemas.microsoft.com/office/powerpoint/2010/main" val="73529724"/>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docProps/app.xml><?xml version="1.0" encoding="utf-8"?>
<Properties xmlns="http://schemas.openxmlformats.org/officeDocument/2006/extended-properties" xmlns:vt="http://schemas.openxmlformats.org/officeDocument/2006/docPropsVTypes">
  <Template>Retrospect</Template>
  <TotalTime>508</TotalTime>
  <Words>4132</Words>
  <Application>Microsoft Office PowerPoint</Application>
  <PresentationFormat>On-screen Show (4:3)</PresentationFormat>
  <Paragraphs>469</Paragraphs>
  <Slides>63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63</vt:i4>
      </vt:variant>
    </vt:vector>
  </HeadingPairs>
  <TitlesOfParts>
    <vt:vector size="67" baseType="lpstr">
      <vt:lpstr>Calibri</vt:lpstr>
      <vt:lpstr>Calibri Light</vt:lpstr>
      <vt:lpstr>Wingdings</vt:lpstr>
      <vt:lpstr>Retrospect</vt:lpstr>
      <vt:lpstr>Unit 5</vt:lpstr>
      <vt:lpstr>Introduction</vt:lpstr>
      <vt:lpstr>PHP's Place in the Web World</vt:lpstr>
      <vt:lpstr>What's So Great About PHP?</vt:lpstr>
      <vt:lpstr>Continue..</vt:lpstr>
      <vt:lpstr>PHP Syntax</vt:lpstr>
      <vt:lpstr>PHP Syntax</vt:lpstr>
      <vt:lpstr>Comments</vt:lpstr>
      <vt:lpstr>Example: Multiline comments</vt:lpstr>
      <vt:lpstr>Data Type</vt:lpstr>
      <vt:lpstr>String Example</vt:lpstr>
      <vt:lpstr>PowerPoint Presentation</vt:lpstr>
      <vt:lpstr>PowerPoint Presentation</vt:lpstr>
      <vt:lpstr>PowerPoint Presentation</vt:lpstr>
      <vt:lpstr>PowerPoint Presentation</vt:lpstr>
      <vt:lpstr>PowerPoint Presentation</vt:lpstr>
      <vt:lpstr>Constant</vt:lpstr>
      <vt:lpstr>Constant() function</vt:lpstr>
      <vt:lpstr>Numbers</vt:lpstr>
      <vt:lpstr>Example: Numbers</vt:lpstr>
      <vt:lpstr>Using Different Kinds of Numbers</vt:lpstr>
      <vt:lpstr>Boolean</vt:lpstr>
      <vt:lpstr>Array</vt:lpstr>
      <vt:lpstr>Array</vt:lpstr>
      <vt:lpstr>Object</vt:lpstr>
      <vt:lpstr>Variables</vt:lpstr>
      <vt:lpstr>Examples:</vt:lpstr>
      <vt:lpstr>Acceptable variable names</vt:lpstr>
      <vt:lpstr>Unacceptable variable names</vt:lpstr>
      <vt:lpstr>Variable names</vt:lpstr>
      <vt:lpstr>Operating on Variables</vt:lpstr>
      <vt:lpstr>Example: Operating on variables</vt:lpstr>
      <vt:lpstr>Output:</vt:lpstr>
      <vt:lpstr>Example: Combined assignment and addition</vt:lpstr>
      <vt:lpstr>Example: Combined assignment and concatenation</vt:lpstr>
      <vt:lpstr>Example: Incrementing and decrementing</vt:lpstr>
      <vt:lpstr>Putting Variables Inside Strings</vt:lpstr>
      <vt:lpstr>define() function</vt:lpstr>
      <vt:lpstr>Arithmetic Operators</vt:lpstr>
      <vt:lpstr>Example: Math operations</vt:lpstr>
      <vt:lpstr>Operator:</vt:lpstr>
      <vt:lpstr>Arithmetic Operator</vt:lpstr>
      <vt:lpstr>Comparison Operator</vt:lpstr>
      <vt:lpstr>Logical Operator</vt:lpstr>
      <vt:lpstr>Assignment Operator</vt:lpstr>
      <vt:lpstr>Control Structure</vt:lpstr>
      <vt:lpstr>Loops</vt:lpstr>
      <vt:lpstr>PHP forms</vt:lpstr>
      <vt:lpstr>$_GET method</vt:lpstr>
      <vt:lpstr>$_POST method</vt:lpstr>
      <vt:lpstr>Form validation</vt:lpstr>
      <vt:lpstr>Cookies</vt:lpstr>
      <vt:lpstr>Cookies</vt:lpstr>
      <vt:lpstr>Cookies</vt:lpstr>
      <vt:lpstr>Session</vt:lpstr>
      <vt:lpstr>Session</vt:lpstr>
      <vt:lpstr>Session</vt:lpstr>
      <vt:lpstr>PowerPoint Presentation</vt:lpstr>
      <vt:lpstr>Introduction to PHP Frameworks</vt:lpstr>
      <vt:lpstr>MVC architecture</vt:lpstr>
      <vt:lpstr>WordPress interface</vt:lpstr>
      <vt:lpstr>WordPress interface</vt:lpstr>
      <vt:lpstr>Assignment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Unit-2</dc:title>
  <dc:creator>LenovO</dc:creator>
  <cp:lastModifiedBy>Ayush Tuladhar</cp:lastModifiedBy>
  <cp:revision>84</cp:revision>
  <dcterms:created xsi:type="dcterms:W3CDTF">2020-08-28T05:27:54Z</dcterms:created>
  <dcterms:modified xsi:type="dcterms:W3CDTF">2026-02-26T00:48:28Z</dcterms:modified>
</cp:coreProperties>
</file>